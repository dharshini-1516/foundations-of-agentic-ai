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Placify: an agentic AI system that coordinates a whole campus placement drive, from the company's job description to an approved interview schedule. Mini-project for AD23731 Foundations of Agentic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 placement is a chain of dependent stages, yet most colleges run it through disconnected tools. A portal stores data but doesn't reason about what should happen next. Placify adds an adaptive coordination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main user groups: students, TPO, HR and faculty. Each needs something different: students need timely communication, TPOs need control and auditability, recruiters need a reliable pipeline, faculty need conflict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orchestration and shared state; ten specialist agents; and a knowledge, memory and tool layer. Deterministic operations stay separate from language-based reasoning, and humans keep authority over critical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fixed public dataset for this project. The prototype uses controlled student, company and schedule data plus a policy knowledge base for Agentic RAG. Real deployment would use authorized institutional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with LangGraph and LangChain for the stateful agent workflow, FastAPI backend, PostgreSQL for structured data, a vector database for Agentic RAG, React for the role-based UI, and MCP plus APIs for controlled tool access. Credentials stay outside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top to bottom: data sources feed the LangGraph orchestrator, which drives the ten-agent layer, backed by the knowledge and memory layer and the tool and integration layer, with role-specific user interfaces on the right and the technology stack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specialists plus the orchestrator. Shared state holds company identity, criteria, eligible IDs, verification and application status, assessment results, shortlist, schedule, conflict reports, approvals and audit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a state-transition process in LangGraph. Note the closed loop at the end: the Conflict Checker and Critic can send the state back to Scheduling. Example: if HR moves an interview from 10 AM to 2 PM, only the affected part of the plan is recalculated.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RAG lets an agent decide when to retrieve and what to ask for. Documents change across recruitment cycles, so source and revision metadata are retained. Memory gives agents both current-drive context and historical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Conventional automation runs one fixed step at a time. Placify keeps the state of the whole drive and picks the next action from it. Extensions: college ERP integration, recruiter platform integration, advanced scheduling optimization, placement analytics and preference-aware matching.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Sixteen-week plan in six phases, from requirement analysis and controlled dataset design through the agents, scheduling and integration, ending with testing, evaluation and the final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does not contain final benchmark numbers, so no accuracy or latency figures are shown. The KPI list is what will be measured in the final controlled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C38"/>
        </a:solidFill>
      </p:bgPr>
    </p:bg>
    <p:spTree>
      <p:nvGrpSpPr>
        <p:cNvPr id="1" name=""/>
        <p:cNvGrpSpPr/>
        <p:nvPr/>
      </p:nvGrpSpPr>
      <p:grpSpPr>
        <a:xfrm>
          <a:off x="0" y="0"/>
          <a:ext cx="0" cy="0"/>
          <a:chOff x="0" y="0"/>
          <a:chExt cx="0" cy="0"/>
        </a:xfrm>
      </p:grpSpPr>
      <p:sp>
        <p:nvSpPr>
          <p:cNvPr id="2" name="Shape 0"/>
          <p:cNvSpPr/>
          <p:nvPr/>
        </p:nvSpPr>
        <p:spPr>
          <a:xfrm>
            <a:off x="6949440" y="-1097280"/>
            <a:ext cx="3840480" cy="3840480"/>
          </a:xfrm>
          <a:prstGeom prst="ellipse">
            <a:avLst/>
          </a:prstGeom>
          <a:solidFill>
            <a:srgbClr val="2D3947"/>
          </a:solidFill>
          <a:ln w="12700">
            <a:solidFill>
              <a:srgbClr val="2D3947"/>
            </a:solidFill>
            <a:prstDash val="solid"/>
          </a:ln>
        </p:spPr>
      </p:sp>
      <p:sp>
        <p:nvSpPr>
          <p:cNvPr id="3" name="Shape 1"/>
          <p:cNvSpPr/>
          <p:nvPr/>
        </p:nvSpPr>
        <p:spPr>
          <a:xfrm>
            <a:off x="7772400" y="3383280"/>
            <a:ext cx="2194560" cy="2194560"/>
          </a:xfrm>
          <a:prstGeom prst="ellipse">
            <a:avLst/>
          </a:prstGeom>
          <a:solidFill>
            <a:srgbClr val="2A3542"/>
          </a:solidFill>
          <a:ln w="12700">
            <a:solidFill>
              <a:srgbClr val="2A3542"/>
            </a:solidFill>
            <a:prstDash val="solid"/>
          </a:ln>
        </p:spPr>
      </p:sp>
      <p:sp>
        <p:nvSpPr>
          <p:cNvPr id="4" name="Text 2"/>
          <p:cNvSpPr txBox="1"/>
          <p:nvPr/>
        </p:nvSpPr>
        <p:spPr>
          <a:xfrm>
            <a:off x="640080" y="548640"/>
            <a:ext cx="4572000" cy="274320"/>
          </a:xfrm>
          <a:prstGeom prst="rect">
            <a:avLst/>
          </a:prstGeom>
          <a:noFill/>
          <a:ln/>
        </p:spPr>
        <p:txBody>
          <a:bodyPr wrap="square" lIns="0" tIns="0" rIns="0" bIns="0" rtlCol="0" anchor="ctr"/>
          <a:lstStyle/>
          <a:p>
            <a:pPr indent="0" marL="0">
              <a:buNone/>
            </a:pPr>
            <a:r>
              <a:rPr lang="en-US" sz="1000" b="1" spc="400" kern="0" dirty="0">
                <a:solidFill>
                  <a:srgbClr val="C9C4F7"/>
                </a:solidFill>
                <a:latin typeface="Calibri" pitchFamily="34" charset="0"/>
                <a:ea typeface="Calibri" pitchFamily="34" charset="-122"/>
                <a:cs typeface="Calibri" pitchFamily="34" charset="-120"/>
              </a:rPr>
              <a:t>AGENTIC AI</a:t>
            </a:r>
            <a:endParaRPr lang="en-US" sz="1000" dirty="0"/>
          </a:p>
        </p:txBody>
      </p:sp>
      <p:sp>
        <p:nvSpPr>
          <p:cNvPr id="5" name="Text 3"/>
          <p:cNvSpPr txBox="1"/>
          <p:nvPr/>
        </p:nvSpPr>
        <p:spPr>
          <a:xfrm>
            <a:off x="640080" y="914400"/>
            <a:ext cx="6400800" cy="86868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Placify</a:t>
            </a:r>
            <a:endParaRPr lang="en-US" sz="5200" dirty="0"/>
          </a:p>
        </p:txBody>
      </p:sp>
      <p:sp>
        <p:nvSpPr>
          <p:cNvPr id="6" name="Text 4"/>
          <p:cNvSpPr txBox="1"/>
          <p:nvPr/>
        </p:nvSpPr>
        <p:spPr>
          <a:xfrm>
            <a:off x="640080" y="1828800"/>
            <a:ext cx="7315200" cy="411480"/>
          </a:xfrm>
          <a:prstGeom prst="rect">
            <a:avLst/>
          </a:prstGeom>
          <a:noFill/>
          <a:ln/>
        </p:spPr>
        <p:txBody>
          <a:bodyPr wrap="square" lIns="0" tIns="0" rIns="0" bIns="0" rtlCol="0" anchor="ctr"/>
          <a:lstStyle/>
          <a:p>
            <a:pPr indent="0" marL="0">
              <a:buNone/>
            </a:pPr>
            <a:r>
              <a:rPr lang="en-US" sz="2200" i="1" dirty="0">
                <a:solidFill>
                  <a:srgbClr val="E5E7EB"/>
                </a:solidFill>
                <a:latin typeface="Cambria" pitchFamily="34" charset="0"/>
                <a:ea typeface="Cambria" pitchFamily="34" charset="-122"/>
                <a:cs typeface="Cambria" pitchFamily="34" charset="-120"/>
              </a:rPr>
              <a:t>Autonomous AI Placement Orchestration</a:t>
            </a:r>
            <a:endParaRPr lang="en-US" sz="2200" dirty="0"/>
          </a:p>
        </p:txBody>
      </p:sp>
      <p:sp>
        <p:nvSpPr>
          <p:cNvPr id="7" name="Text 5"/>
          <p:cNvSpPr txBox="1"/>
          <p:nvPr/>
        </p:nvSpPr>
        <p:spPr>
          <a:xfrm>
            <a:off x="640080" y="2286000"/>
            <a:ext cx="6400800" cy="502920"/>
          </a:xfrm>
          <a:prstGeom prst="rect">
            <a:avLst/>
          </a:prstGeom>
          <a:noFill/>
          <a:ln/>
        </p:spPr>
        <p:txBody>
          <a:bodyPr wrap="square" lIns="0" tIns="0" rIns="0" bIns="0" rtlCol="0" anchor="ctr"/>
          <a:lstStyle/>
          <a:p>
            <a:pPr indent="0" marL="0">
              <a:buNone/>
            </a:pPr>
            <a:r>
              <a:rPr lang="en-US" sz="1300" dirty="0">
                <a:solidFill>
                  <a:srgbClr val="B6BEC9"/>
                </a:solidFill>
                <a:latin typeface="Calibri" pitchFamily="34" charset="0"/>
                <a:ea typeface="Calibri" pitchFamily="34" charset="-122"/>
                <a:cs typeface="Calibri" pitchFamily="34" charset="-120"/>
              </a:rPr>
              <a:t>A stateful multi-agent system for eligibility, communication, shortlisting &amp; interview scheduling</a:t>
            </a:r>
            <a:endParaRPr lang="en-US" sz="1300" dirty="0"/>
          </a:p>
        </p:txBody>
      </p:sp>
      <p:sp>
        <p:nvSpPr>
          <p:cNvPr id="8" name="Text 6"/>
          <p:cNvSpPr txBox="1"/>
          <p:nvPr/>
        </p:nvSpPr>
        <p:spPr>
          <a:xfrm>
            <a:off x="640080" y="3154680"/>
            <a:ext cx="640080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AD23731 · Foundations of Agentic AI — Mini-Project</a:t>
            </a:r>
            <a:endParaRPr lang="en-US" sz="1200" dirty="0"/>
          </a:p>
        </p:txBody>
      </p:sp>
      <p:sp>
        <p:nvSpPr>
          <p:cNvPr id="9" name="Text 7"/>
          <p:cNvSpPr txBox="1"/>
          <p:nvPr/>
        </p:nvSpPr>
        <p:spPr>
          <a:xfrm>
            <a:off x="640080" y="3474720"/>
            <a:ext cx="6400800" cy="77724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Team Members:  </a:t>
            </a:r>
            <a:pPr indent="0" marL="0">
              <a:buNone/>
            </a:pPr>
            <a:r>
              <a:rPr lang="en-US" sz="1150" dirty="0">
                <a:solidFill>
                  <a:srgbClr val="D1D5DB"/>
                </a:solidFill>
                <a:latin typeface="Calibri" pitchFamily="34" charset="0"/>
                <a:ea typeface="Calibri" pitchFamily="34" charset="-122"/>
                <a:cs typeface="Calibri" pitchFamily="34" charset="-120"/>
              </a:rPr>
              <a:t>Shri Dharshini M (231501153)</a:t>
            </a:r>
            <a:endParaRPr lang="en-US" sz="1150" dirty="0"/>
          </a:p>
          <a:p>
            <a:pPr indent="0" marL="0">
              <a:buNone/>
            </a:pPr>
            <a:r>
              <a:rPr lang="en-US" sz="1150" dirty="0">
                <a:solidFill>
                  <a:srgbClr val="D1D5DB"/>
                </a:solidFill>
                <a:latin typeface="Calibri" pitchFamily="34" charset="0"/>
                <a:ea typeface="Calibri" pitchFamily="34" charset="-122"/>
                <a:cs typeface="Calibri" pitchFamily="34" charset="-120"/>
              </a:rPr>
              <a:t>                             Sharan M (231501151)</a:t>
            </a:r>
            <a:endParaRPr lang="en-US" sz="1150" dirty="0"/>
          </a:p>
          <a:p>
            <a:pPr indent="0" marL="0">
              <a:buNone/>
            </a:pPr>
            <a:r>
              <a:rPr lang="en-US" sz="1150" dirty="0">
                <a:solidFill>
                  <a:srgbClr val="D1D5DB"/>
                </a:solidFill>
                <a:latin typeface="Calibri" pitchFamily="34" charset="0"/>
                <a:ea typeface="Calibri" pitchFamily="34" charset="-122"/>
                <a:cs typeface="Calibri" pitchFamily="34" charset="-120"/>
              </a:rPr>
              <a:t>                             Sooryanath SD (231501158)</a:t>
            </a:r>
            <a:endParaRPr lang="en-US" sz="1150" dirty="0"/>
          </a:p>
        </p:txBody>
      </p:sp>
      <p:sp>
        <p:nvSpPr>
          <p:cNvPr id="10" name="Text 8"/>
          <p:cNvSpPr txBox="1"/>
          <p:nvPr/>
        </p:nvSpPr>
        <p:spPr>
          <a:xfrm>
            <a:off x="640080" y="4526280"/>
            <a:ext cx="7315200" cy="22860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Department of Artificial Intelligence and Machine Learning  ·  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Problem Statement &amp; Business Case</a:t>
            </a:r>
            <a:endParaRPr lang="en-US" sz="2600" dirty="0"/>
          </a:p>
        </p:txBody>
      </p:sp>
      <p:sp>
        <p:nvSpPr>
          <p:cNvPr id="3" name="Text 1"/>
          <p:cNvSpPr txBox="1"/>
          <p:nvPr/>
        </p:nvSpPr>
        <p:spPr>
          <a:xfrm>
            <a:off x="548640" y="1143000"/>
            <a:ext cx="3657600" cy="228600"/>
          </a:xfrm>
          <a:prstGeom prst="rect">
            <a:avLst/>
          </a:prstGeom>
          <a:noFill/>
          <a:ln/>
        </p:spPr>
        <p:txBody>
          <a:bodyPr wrap="square" lIns="0" tIns="0" rIns="0" bIns="0" rtlCol="0" anchor="ctr"/>
          <a:lstStyle/>
          <a:p>
            <a:pPr indent="0" marL="0">
              <a:buNone/>
            </a:pPr>
            <a:r>
              <a:rPr lang="en-US" sz="950" b="1" spc="200" kern="0" dirty="0">
                <a:solidFill>
                  <a:srgbClr val="6B7280"/>
                </a:solidFill>
                <a:latin typeface="Calibri" pitchFamily="34" charset="0"/>
                <a:ea typeface="Calibri" pitchFamily="34" charset="-122"/>
                <a:cs typeface="Calibri" pitchFamily="34" charset="-120"/>
              </a:rPr>
              <a:t>THE PROBLEM</a:t>
            </a:r>
            <a:endParaRPr lang="en-US" sz="950" dirty="0"/>
          </a:p>
        </p:txBody>
      </p:sp>
      <p:sp>
        <p:nvSpPr>
          <p:cNvPr id="4" name="Shape 2"/>
          <p:cNvSpPr/>
          <p:nvPr/>
        </p:nvSpPr>
        <p:spPr>
          <a:xfrm>
            <a:off x="548640" y="1527048"/>
            <a:ext cx="109728" cy="109728"/>
          </a:xfrm>
          <a:prstGeom prst="ellipse">
            <a:avLst/>
          </a:prstGeom>
          <a:solidFill>
            <a:srgbClr val="5B4FCF"/>
          </a:solidFill>
          <a:ln w="12700">
            <a:solidFill>
              <a:srgbClr val="5B4FCF"/>
            </a:solidFill>
            <a:prstDash val="solid"/>
          </a:ln>
        </p:spPr>
      </p:sp>
      <p:sp>
        <p:nvSpPr>
          <p:cNvPr id="5" name="Text 3"/>
          <p:cNvSpPr txBox="1"/>
          <p:nvPr/>
        </p:nvSpPr>
        <p:spPr>
          <a:xfrm>
            <a:off x="777240" y="1463040"/>
            <a:ext cx="3611880" cy="256032"/>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Fragmented Manual Coordination</a:t>
            </a:r>
            <a:endParaRPr lang="en-US" sz="1350" dirty="0"/>
          </a:p>
        </p:txBody>
      </p:sp>
      <p:sp>
        <p:nvSpPr>
          <p:cNvPr id="6" name="Text 4"/>
          <p:cNvSpPr txBox="1"/>
          <p:nvPr/>
        </p:nvSpPr>
        <p:spPr>
          <a:xfrm>
            <a:off x="777240" y="1737360"/>
            <a:ext cx="3611880" cy="6858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Forms, spreadsheets, emails and messaging groups are stitched together by hand — eligibility and academic data are re-checked repeatedly.</a:t>
            </a:r>
            <a:endParaRPr lang="en-US" sz="1100" dirty="0"/>
          </a:p>
        </p:txBody>
      </p:sp>
      <p:sp>
        <p:nvSpPr>
          <p:cNvPr id="7" name="Shape 5"/>
          <p:cNvSpPr/>
          <p:nvPr/>
        </p:nvSpPr>
        <p:spPr>
          <a:xfrm>
            <a:off x="548640" y="2578608"/>
            <a:ext cx="109728" cy="109728"/>
          </a:xfrm>
          <a:prstGeom prst="ellipse">
            <a:avLst/>
          </a:prstGeom>
          <a:solidFill>
            <a:srgbClr val="5B4FCF"/>
          </a:solidFill>
          <a:ln w="12700">
            <a:solidFill>
              <a:srgbClr val="5B4FCF"/>
            </a:solidFill>
            <a:prstDash val="solid"/>
          </a:ln>
        </p:spPr>
      </p:sp>
      <p:sp>
        <p:nvSpPr>
          <p:cNvPr id="8" name="Text 6"/>
          <p:cNvSpPr txBox="1"/>
          <p:nvPr/>
        </p:nvSpPr>
        <p:spPr>
          <a:xfrm>
            <a:off x="777240" y="2514600"/>
            <a:ext cx="3611880" cy="256032"/>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Storage-Only Placement Portals</a:t>
            </a:r>
            <a:endParaRPr lang="en-US" sz="1350" dirty="0"/>
          </a:p>
        </p:txBody>
      </p:sp>
      <p:sp>
        <p:nvSpPr>
          <p:cNvPr id="9" name="Text 7"/>
          <p:cNvSpPr txBox="1"/>
          <p:nvPr/>
        </p:nvSpPr>
        <p:spPr>
          <a:xfrm>
            <a:off x="777240" y="2788920"/>
            <a:ext cx="3611880" cy="6858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Portals store applications but don't decide the next action, choose the right data source, or recover when a condition changes.</a:t>
            </a:r>
            <a:endParaRPr lang="en-US" sz="1100" dirty="0"/>
          </a:p>
        </p:txBody>
      </p:sp>
      <p:sp>
        <p:nvSpPr>
          <p:cNvPr id="10" name="Shape 8"/>
          <p:cNvSpPr/>
          <p:nvPr/>
        </p:nvSpPr>
        <p:spPr>
          <a:xfrm>
            <a:off x="548640" y="3630168"/>
            <a:ext cx="109728" cy="109728"/>
          </a:xfrm>
          <a:prstGeom prst="ellipse">
            <a:avLst/>
          </a:prstGeom>
          <a:solidFill>
            <a:srgbClr val="5B4FCF"/>
          </a:solidFill>
          <a:ln w="12700">
            <a:solidFill>
              <a:srgbClr val="5B4FCF"/>
            </a:solidFill>
            <a:prstDash val="solid"/>
          </a:ln>
        </p:spPr>
      </p:sp>
      <p:sp>
        <p:nvSpPr>
          <p:cNvPr id="11" name="Text 9"/>
          <p:cNvSpPr txBox="1"/>
          <p:nvPr/>
        </p:nvSpPr>
        <p:spPr>
          <a:xfrm>
            <a:off x="777240" y="3566160"/>
            <a:ext cx="3611880" cy="256032"/>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Fragile Schedules, Lost Traceability</a:t>
            </a:r>
            <a:endParaRPr lang="en-US" sz="1350" dirty="0"/>
          </a:p>
        </p:txBody>
      </p:sp>
      <p:sp>
        <p:nvSpPr>
          <p:cNvPr id="12" name="Text 10"/>
          <p:cNvSpPr txBox="1"/>
          <p:nvPr/>
        </p:nvSpPr>
        <p:spPr>
          <a:xfrm>
            <a:off x="777240" y="3840480"/>
            <a:ext cx="3611880" cy="6858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Clashes with exams or other drives and last-minute HR changes force manual rescheduling; decisions get buried across messages.</a:t>
            </a:r>
            <a:endParaRPr lang="en-US" sz="1100" dirty="0"/>
          </a:p>
        </p:txBody>
      </p:sp>
      <p:sp>
        <p:nvSpPr>
          <p:cNvPr id="13" name="Shape 11"/>
          <p:cNvSpPr/>
          <p:nvPr/>
        </p:nvSpPr>
        <p:spPr>
          <a:xfrm>
            <a:off x="4754880" y="1143000"/>
            <a:ext cx="3840480" cy="3520440"/>
          </a:xfrm>
          <a:prstGeom prst="roundRect">
            <a:avLst>
              <a:gd name="adj" fmla="val 2078"/>
            </a:avLst>
          </a:prstGeom>
          <a:solidFill>
            <a:srgbClr val="F2F3F5"/>
          </a:solidFill>
          <a:ln w="12700">
            <a:solidFill>
              <a:srgbClr val="F2F3F5"/>
            </a:solidFill>
            <a:prstDash val="solid"/>
          </a:ln>
        </p:spPr>
      </p:sp>
      <p:sp>
        <p:nvSpPr>
          <p:cNvPr id="14" name="Text 12"/>
          <p:cNvSpPr txBox="1"/>
          <p:nvPr/>
        </p:nvSpPr>
        <p:spPr>
          <a:xfrm>
            <a:off x="4983480" y="1298448"/>
            <a:ext cx="2743200" cy="228600"/>
          </a:xfrm>
          <a:prstGeom prst="rect">
            <a:avLst/>
          </a:prstGeom>
          <a:noFill/>
          <a:ln/>
        </p:spPr>
        <p:txBody>
          <a:bodyPr wrap="square" lIns="0" tIns="0" rIns="0" bIns="0" rtlCol="0" anchor="ctr"/>
          <a:lstStyle/>
          <a:p>
            <a:pPr indent="0" marL="0">
              <a:buNone/>
            </a:pPr>
            <a:r>
              <a:rPr lang="en-US" sz="950" b="1" spc="200" kern="0" dirty="0">
                <a:solidFill>
                  <a:srgbClr val="6B7280"/>
                </a:solidFill>
                <a:latin typeface="Calibri" pitchFamily="34" charset="0"/>
                <a:ea typeface="Calibri" pitchFamily="34" charset="-122"/>
                <a:cs typeface="Calibri" pitchFamily="34" charset="-120"/>
              </a:rPr>
              <a:t>BUSINESS CASE</a:t>
            </a:r>
            <a:endParaRPr lang="en-US" sz="950" dirty="0"/>
          </a:p>
        </p:txBody>
      </p:sp>
      <p:sp>
        <p:nvSpPr>
          <p:cNvPr id="15" name="Shape 13"/>
          <p:cNvSpPr/>
          <p:nvPr/>
        </p:nvSpPr>
        <p:spPr>
          <a:xfrm>
            <a:off x="4983480" y="1691640"/>
            <a:ext cx="384048" cy="384048"/>
          </a:xfrm>
          <a:prstGeom prst="ellipse">
            <a:avLst/>
          </a:prstGeom>
          <a:solidFill>
            <a:srgbClr val="5B4FCF"/>
          </a:solidFill>
          <a:ln w="12700">
            <a:solidFill>
              <a:srgbClr val="5B4FCF"/>
            </a:solidFill>
            <a:prstDash val="solid"/>
          </a:ln>
        </p:spPr>
      </p:sp>
      <p:pic>
        <p:nvPicPr>
          <p:cNvPr id="16" name="Image 0" descr="preencoded.png">    </p:cNvPr>
          <p:cNvPicPr>
            <a:picLocks noChangeAspect="1"/>
          </p:cNvPicPr>
          <p:nvPr/>
        </p:nvPicPr>
        <p:blipFill>
          <a:blip r:embed="rId1"/>
          <a:stretch>
            <a:fillRect/>
          </a:stretch>
        </p:blipFill>
        <p:spPr>
          <a:xfrm>
            <a:off x="5084064" y="1792224"/>
            <a:ext cx="182880" cy="182880"/>
          </a:xfrm>
          <a:prstGeom prst="rect">
            <a:avLst/>
          </a:prstGeom>
        </p:spPr>
      </p:pic>
      <p:sp>
        <p:nvSpPr>
          <p:cNvPr id="17" name="Text 14"/>
          <p:cNvSpPr txBox="1"/>
          <p:nvPr/>
        </p:nvSpPr>
        <p:spPr>
          <a:xfrm>
            <a:off x="5532120" y="1645920"/>
            <a:ext cx="2926080" cy="237744"/>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Coordination Efficiency</a:t>
            </a:r>
            <a:endParaRPr lang="en-US" sz="1250" dirty="0"/>
          </a:p>
        </p:txBody>
      </p:sp>
      <p:sp>
        <p:nvSpPr>
          <p:cNvPr id="18" name="Text 15"/>
          <p:cNvSpPr txBox="1"/>
          <p:nvPr/>
        </p:nvSpPr>
        <p:spPr>
          <a:xfrm>
            <a:off x="5532120" y="1892808"/>
            <a:ext cx="2926080" cy="6400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Routine work is routed automatically, so placement officers focus on exceptions, approvals and recruiters.</a:t>
            </a:r>
            <a:endParaRPr lang="en-US" sz="1050" dirty="0"/>
          </a:p>
        </p:txBody>
      </p:sp>
      <p:sp>
        <p:nvSpPr>
          <p:cNvPr id="19" name="Shape 16"/>
          <p:cNvSpPr/>
          <p:nvPr/>
        </p:nvSpPr>
        <p:spPr>
          <a:xfrm>
            <a:off x="4983480" y="2679192"/>
            <a:ext cx="384048" cy="384048"/>
          </a:xfrm>
          <a:prstGeom prst="ellipse">
            <a:avLst/>
          </a:prstGeom>
          <a:solidFill>
            <a:srgbClr val="5B4FCF"/>
          </a:solidFill>
          <a:ln w="12700">
            <a:solidFill>
              <a:srgbClr val="5B4FCF"/>
            </a:solidFill>
            <a:prstDash val="solid"/>
          </a:ln>
        </p:spPr>
      </p:sp>
      <p:pic>
        <p:nvPicPr>
          <p:cNvPr id="20" name="Image 1" descr="preencoded.png">    </p:cNvPr>
          <p:cNvPicPr>
            <a:picLocks noChangeAspect="1"/>
          </p:cNvPicPr>
          <p:nvPr/>
        </p:nvPicPr>
        <p:blipFill>
          <a:blip r:embed="rId2"/>
          <a:stretch>
            <a:fillRect/>
          </a:stretch>
        </p:blipFill>
        <p:spPr>
          <a:xfrm>
            <a:off x="5084064" y="2779776"/>
            <a:ext cx="182880" cy="182880"/>
          </a:xfrm>
          <a:prstGeom prst="rect">
            <a:avLst/>
          </a:prstGeom>
        </p:spPr>
      </p:pic>
      <p:sp>
        <p:nvSpPr>
          <p:cNvPr id="21" name="Text 17"/>
          <p:cNvSpPr txBox="1"/>
          <p:nvPr/>
        </p:nvSpPr>
        <p:spPr>
          <a:xfrm>
            <a:off x="5532120" y="2633472"/>
            <a:ext cx="2926080" cy="237744"/>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Fewer Missed Opportunities</a:t>
            </a:r>
            <a:endParaRPr lang="en-US" sz="1250" dirty="0"/>
          </a:p>
        </p:txBody>
      </p:sp>
      <p:sp>
        <p:nvSpPr>
          <p:cNvPr id="22" name="Text 18"/>
          <p:cNvSpPr txBox="1"/>
          <p:nvPr/>
        </p:nvSpPr>
        <p:spPr>
          <a:xfrm>
            <a:off x="5532120" y="2880360"/>
            <a:ext cx="2926080" cy="6400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Timely, targeted notifications and clear application status; reminders go only to students who still need to act.</a:t>
            </a:r>
            <a:endParaRPr lang="en-US" sz="1050" dirty="0"/>
          </a:p>
        </p:txBody>
      </p:sp>
      <p:sp>
        <p:nvSpPr>
          <p:cNvPr id="23" name="Shape 19"/>
          <p:cNvSpPr/>
          <p:nvPr/>
        </p:nvSpPr>
        <p:spPr>
          <a:xfrm>
            <a:off x="4983480" y="3666744"/>
            <a:ext cx="384048" cy="384048"/>
          </a:xfrm>
          <a:prstGeom prst="ellipse">
            <a:avLst/>
          </a:prstGeom>
          <a:solidFill>
            <a:srgbClr val="5B4FCF"/>
          </a:solidFill>
          <a:ln w="12700">
            <a:solidFill>
              <a:srgbClr val="5B4FCF"/>
            </a:solidFill>
            <a:prstDash val="solid"/>
          </a:ln>
        </p:spPr>
      </p:sp>
      <p:pic>
        <p:nvPicPr>
          <p:cNvPr id="24" name="Image 2" descr="preencoded.png">    </p:cNvPr>
          <p:cNvPicPr>
            <a:picLocks noChangeAspect="1"/>
          </p:cNvPicPr>
          <p:nvPr/>
        </p:nvPicPr>
        <p:blipFill>
          <a:blip r:embed="rId3"/>
          <a:stretch>
            <a:fillRect/>
          </a:stretch>
        </p:blipFill>
        <p:spPr>
          <a:xfrm>
            <a:off x="5084064" y="3767328"/>
            <a:ext cx="182880" cy="182880"/>
          </a:xfrm>
          <a:prstGeom prst="rect">
            <a:avLst/>
          </a:prstGeom>
        </p:spPr>
      </p:pic>
      <p:sp>
        <p:nvSpPr>
          <p:cNvPr id="25" name="Text 20"/>
          <p:cNvSpPr txBox="1"/>
          <p:nvPr/>
        </p:nvSpPr>
        <p:spPr>
          <a:xfrm>
            <a:off x="5532120" y="3621024"/>
            <a:ext cx="2926080" cy="237744"/>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Reliable &amp; Auditable Drives</a:t>
            </a:r>
            <a:endParaRPr lang="en-US" sz="1250" dirty="0"/>
          </a:p>
        </p:txBody>
      </p:sp>
      <p:sp>
        <p:nvSpPr>
          <p:cNvPr id="26" name="Text 21"/>
          <p:cNvSpPr txBox="1"/>
          <p:nvPr/>
        </p:nvSpPr>
        <p:spPr>
          <a:xfrm>
            <a:off x="5532120" y="3867912"/>
            <a:ext cx="2926080" cy="6400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Shared state, conflict-checked schedules and human approval give a consistent pipeline and a full audit trail.</a:t>
            </a:r>
            <a:endParaRPr lang="en-US" sz="1050" dirty="0"/>
          </a:p>
        </p:txBody>
      </p:sp>
      <p:sp>
        <p:nvSpPr>
          <p:cNvPr id="27" name="Text 22"/>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User &amp; Stakeholder Analysis</a:t>
            </a:r>
            <a:endParaRPr lang="en-US" sz="2600" dirty="0"/>
          </a:p>
        </p:txBody>
      </p:sp>
      <p:sp>
        <p:nvSpPr>
          <p:cNvPr id="3" name="Shape 1"/>
          <p:cNvSpPr/>
          <p:nvPr/>
        </p:nvSpPr>
        <p:spPr>
          <a:xfrm>
            <a:off x="548640" y="1143000"/>
            <a:ext cx="3840480" cy="1371600"/>
          </a:xfrm>
          <a:prstGeom prst="roundRect">
            <a:avLst>
              <a:gd name="adj" fmla="val 5333"/>
            </a:avLst>
          </a:prstGeom>
          <a:solidFill>
            <a:srgbClr val="F2F3F5"/>
          </a:solidFill>
          <a:ln w="12700">
            <a:solidFill>
              <a:srgbClr val="F2F3F5"/>
            </a:solidFill>
            <a:prstDash val="solid"/>
          </a:ln>
        </p:spPr>
      </p:sp>
      <p:sp>
        <p:nvSpPr>
          <p:cNvPr id="4" name="Shape 2"/>
          <p:cNvSpPr/>
          <p:nvPr/>
        </p:nvSpPr>
        <p:spPr>
          <a:xfrm>
            <a:off x="777240" y="1371600"/>
            <a:ext cx="457200" cy="457200"/>
          </a:xfrm>
          <a:prstGeom prst="roundRect">
            <a:avLst>
              <a:gd name="adj" fmla="val 12000"/>
            </a:avLst>
          </a:prstGeom>
          <a:solidFill>
            <a:srgbClr val="3A4756"/>
          </a:solidFill>
          <a:ln w="12700">
            <a:solidFill>
              <a:srgbClr val="3A4756"/>
            </a:solidFill>
            <a:prstDash val="solid"/>
          </a:ln>
        </p:spPr>
      </p:sp>
      <p:pic>
        <p:nvPicPr>
          <p:cNvPr id="5" name="Image 0" descr="preencoded.png">    </p:cNvPr>
          <p:cNvPicPr>
            <a:picLocks noChangeAspect="1"/>
          </p:cNvPicPr>
          <p:nvPr/>
        </p:nvPicPr>
        <p:blipFill>
          <a:blip r:embed="rId1"/>
          <a:stretch>
            <a:fillRect/>
          </a:stretch>
        </p:blipFill>
        <p:spPr>
          <a:xfrm>
            <a:off x="914400" y="1508760"/>
            <a:ext cx="182880" cy="182880"/>
          </a:xfrm>
          <a:prstGeom prst="rect">
            <a:avLst/>
          </a:prstGeom>
        </p:spPr>
      </p:pic>
      <p:sp>
        <p:nvSpPr>
          <p:cNvPr id="6" name="Text 3"/>
          <p:cNvSpPr txBox="1"/>
          <p:nvPr/>
        </p:nvSpPr>
        <p:spPr>
          <a:xfrm>
            <a:off x="1417320" y="1344168"/>
            <a:ext cx="278892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Students</a:t>
            </a:r>
            <a:endParaRPr lang="en-US" sz="1400" dirty="0"/>
          </a:p>
        </p:txBody>
      </p:sp>
      <p:sp>
        <p:nvSpPr>
          <p:cNvPr id="7" name="Text 4"/>
          <p:cNvSpPr txBox="1"/>
          <p:nvPr/>
        </p:nvSpPr>
        <p:spPr>
          <a:xfrm>
            <a:off x="1417320" y="1673352"/>
            <a:ext cx="2788920" cy="7315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Receive relevant opportunities, invitations, reminders, application status and interview schedules.</a:t>
            </a:r>
            <a:endParaRPr lang="en-US" sz="1100" dirty="0"/>
          </a:p>
        </p:txBody>
      </p:sp>
      <p:sp>
        <p:nvSpPr>
          <p:cNvPr id="8" name="Shape 5"/>
          <p:cNvSpPr/>
          <p:nvPr/>
        </p:nvSpPr>
        <p:spPr>
          <a:xfrm>
            <a:off x="4754880" y="1143000"/>
            <a:ext cx="3840480" cy="1371600"/>
          </a:xfrm>
          <a:prstGeom prst="roundRect">
            <a:avLst>
              <a:gd name="adj" fmla="val 5333"/>
            </a:avLst>
          </a:prstGeom>
          <a:solidFill>
            <a:srgbClr val="F2F3F5"/>
          </a:solidFill>
          <a:ln w="12700">
            <a:solidFill>
              <a:srgbClr val="F2F3F5"/>
            </a:solidFill>
            <a:prstDash val="solid"/>
          </a:ln>
        </p:spPr>
      </p:sp>
      <p:sp>
        <p:nvSpPr>
          <p:cNvPr id="9" name="Shape 6"/>
          <p:cNvSpPr/>
          <p:nvPr/>
        </p:nvSpPr>
        <p:spPr>
          <a:xfrm>
            <a:off x="4983480" y="1371600"/>
            <a:ext cx="457200" cy="457200"/>
          </a:xfrm>
          <a:prstGeom prst="roundRect">
            <a:avLst>
              <a:gd name="adj" fmla="val 12000"/>
            </a:avLst>
          </a:prstGeom>
          <a:solidFill>
            <a:srgbClr val="3A4756"/>
          </a:solidFill>
          <a:ln w="12700">
            <a:solidFill>
              <a:srgbClr val="3A4756"/>
            </a:solidFill>
            <a:prstDash val="solid"/>
          </a:ln>
        </p:spPr>
      </p:sp>
      <p:pic>
        <p:nvPicPr>
          <p:cNvPr id="10" name="Image 1" descr="preencoded.png">    </p:cNvPr>
          <p:cNvPicPr>
            <a:picLocks noChangeAspect="1"/>
          </p:cNvPicPr>
          <p:nvPr/>
        </p:nvPicPr>
        <p:blipFill>
          <a:blip r:embed="rId2"/>
          <a:stretch>
            <a:fillRect/>
          </a:stretch>
        </p:blipFill>
        <p:spPr>
          <a:xfrm>
            <a:off x="5120640" y="1508760"/>
            <a:ext cx="182880" cy="182880"/>
          </a:xfrm>
          <a:prstGeom prst="rect">
            <a:avLst/>
          </a:prstGeom>
        </p:spPr>
      </p:pic>
      <p:sp>
        <p:nvSpPr>
          <p:cNvPr id="11" name="Text 7"/>
          <p:cNvSpPr txBox="1"/>
          <p:nvPr/>
        </p:nvSpPr>
        <p:spPr>
          <a:xfrm>
            <a:off x="5623560" y="1344168"/>
            <a:ext cx="278892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Placement Officer / TPO</a:t>
            </a:r>
            <a:endParaRPr lang="en-US" sz="1400" dirty="0"/>
          </a:p>
        </p:txBody>
      </p:sp>
      <p:sp>
        <p:nvSpPr>
          <p:cNvPr id="12" name="Text 8"/>
          <p:cNvSpPr txBox="1"/>
          <p:nvPr/>
        </p:nvSpPr>
        <p:spPr>
          <a:xfrm>
            <a:off x="5623560" y="1673352"/>
            <a:ext cx="2788920" cy="7315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Creates drives, reviews eligibility rules and exceptions, approves shortlists and releases schedules.</a:t>
            </a:r>
            <a:endParaRPr lang="en-US" sz="1100" dirty="0"/>
          </a:p>
        </p:txBody>
      </p:sp>
      <p:sp>
        <p:nvSpPr>
          <p:cNvPr id="13" name="Shape 9"/>
          <p:cNvSpPr/>
          <p:nvPr/>
        </p:nvSpPr>
        <p:spPr>
          <a:xfrm>
            <a:off x="548640" y="2697480"/>
            <a:ext cx="3840480" cy="1371600"/>
          </a:xfrm>
          <a:prstGeom prst="roundRect">
            <a:avLst>
              <a:gd name="adj" fmla="val 5333"/>
            </a:avLst>
          </a:prstGeom>
          <a:solidFill>
            <a:srgbClr val="F2F3F5"/>
          </a:solidFill>
          <a:ln w="12700">
            <a:solidFill>
              <a:srgbClr val="F2F3F5"/>
            </a:solidFill>
            <a:prstDash val="solid"/>
          </a:ln>
        </p:spPr>
      </p:sp>
      <p:sp>
        <p:nvSpPr>
          <p:cNvPr id="14" name="Shape 10"/>
          <p:cNvSpPr/>
          <p:nvPr/>
        </p:nvSpPr>
        <p:spPr>
          <a:xfrm>
            <a:off x="777240" y="2926080"/>
            <a:ext cx="457200" cy="457200"/>
          </a:xfrm>
          <a:prstGeom prst="roundRect">
            <a:avLst>
              <a:gd name="adj" fmla="val 12000"/>
            </a:avLst>
          </a:prstGeom>
          <a:solidFill>
            <a:srgbClr val="3A4756"/>
          </a:solidFill>
          <a:ln w="12700">
            <a:solidFill>
              <a:srgbClr val="3A4756"/>
            </a:solidFill>
            <a:prstDash val="solid"/>
          </a:ln>
        </p:spPr>
      </p:sp>
      <p:pic>
        <p:nvPicPr>
          <p:cNvPr id="15" name="Image 2" descr="preencoded.png">    </p:cNvPr>
          <p:cNvPicPr>
            <a:picLocks noChangeAspect="1"/>
          </p:cNvPicPr>
          <p:nvPr/>
        </p:nvPicPr>
        <p:blipFill>
          <a:blip r:embed="rId3"/>
          <a:stretch>
            <a:fillRect/>
          </a:stretch>
        </p:blipFill>
        <p:spPr>
          <a:xfrm>
            <a:off x="914400" y="3063240"/>
            <a:ext cx="182880" cy="182880"/>
          </a:xfrm>
          <a:prstGeom prst="rect">
            <a:avLst/>
          </a:prstGeom>
        </p:spPr>
      </p:pic>
      <p:sp>
        <p:nvSpPr>
          <p:cNvPr id="16" name="Text 11"/>
          <p:cNvSpPr txBox="1"/>
          <p:nvPr/>
        </p:nvSpPr>
        <p:spPr>
          <a:xfrm>
            <a:off x="1417320" y="2898648"/>
            <a:ext cx="278892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HR / Recruiters</a:t>
            </a:r>
            <a:endParaRPr lang="en-US" sz="1400" dirty="0"/>
          </a:p>
        </p:txBody>
      </p:sp>
      <p:sp>
        <p:nvSpPr>
          <p:cNvPr id="17" name="Text 12"/>
          <p:cNvSpPr txBox="1"/>
          <p:nvPr/>
        </p:nvSpPr>
        <p:spPr>
          <a:xfrm>
            <a:off x="1417320" y="3227832"/>
            <a:ext cx="2788920" cy="7315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Provide JDs and criteria; receive verified candidate lists, assessment outcomes and interview schedules.</a:t>
            </a:r>
            <a:endParaRPr lang="en-US" sz="1100" dirty="0"/>
          </a:p>
        </p:txBody>
      </p:sp>
      <p:sp>
        <p:nvSpPr>
          <p:cNvPr id="18" name="Shape 13"/>
          <p:cNvSpPr/>
          <p:nvPr/>
        </p:nvSpPr>
        <p:spPr>
          <a:xfrm>
            <a:off x="4754880" y="2697480"/>
            <a:ext cx="3840480" cy="1371600"/>
          </a:xfrm>
          <a:prstGeom prst="roundRect">
            <a:avLst>
              <a:gd name="adj" fmla="val 5333"/>
            </a:avLst>
          </a:prstGeom>
          <a:solidFill>
            <a:srgbClr val="F2F3F5"/>
          </a:solidFill>
          <a:ln w="12700">
            <a:solidFill>
              <a:srgbClr val="F2F3F5"/>
            </a:solidFill>
            <a:prstDash val="solid"/>
          </a:ln>
        </p:spPr>
      </p:sp>
      <p:sp>
        <p:nvSpPr>
          <p:cNvPr id="19" name="Shape 14"/>
          <p:cNvSpPr/>
          <p:nvPr/>
        </p:nvSpPr>
        <p:spPr>
          <a:xfrm>
            <a:off x="4983480" y="2926080"/>
            <a:ext cx="457200" cy="457200"/>
          </a:xfrm>
          <a:prstGeom prst="roundRect">
            <a:avLst>
              <a:gd name="adj" fmla="val 12000"/>
            </a:avLst>
          </a:prstGeom>
          <a:solidFill>
            <a:srgbClr val="3A4756"/>
          </a:solidFill>
          <a:ln w="12700">
            <a:solidFill>
              <a:srgbClr val="3A4756"/>
            </a:solidFill>
            <a:prstDash val="solid"/>
          </a:ln>
        </p:spPr>
      </p:sp>
      <p:pic>
        <p:nvPicPr>
          <p:cNvPr id="20" name="Image 3" descr="preencoded.png">    </p:cNvPr>
          <p:cNvPicPr>
            <a:picLocks noChangeAspect="1"/>
          </p:cNvPicPr>
          <p:nvPr/>
        </p:nvPicPr>
        <p:blipFill>
          <a:blip r:embed="rId4"/>
          <a:stretch>
            <a:fillRect/>
          </a:stretch>
        </p:blipFill>
        <p:spPr>
          <a:xfrm>
            <a:off x="5120640" y="3063240"/>
            <a:ext cx="182880" cy="182880"/>
          </a:xfrm>
          <a:prstGeom prst="rect">
            <a:avLst/>
          </a:prstGeom>
        </p:spPr>
      </p:pic>
      <p:sp>
        <p:nvSpPr>
          <p:cNvPr id="21" name="Text 15"/>
          <p:cNvSpPr txBox="1"/>
          <p:nvPr/>
        </p:nvSpPr>
        <p:spPr>
          <a:xfrm>
            <a:off x="5623560" y="2898648"/>
            <a:ext cx="278892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Faculty / Coordinators</a:t>
            </a:r>
            <a:endParaRPr lang="en-US" sz="1400" dirty="0"/>
          </a:p>
        </p:txBody>
      </p:sp>
      <p:sp>
        <p:nvSpPr>
          <p:cNvPr id="22" name="Text 16"/>
          <p:cNvSpPr txBox="1"/>
          <p:nvPr/>
        </p:nvSpPr>
        <p:spPr>
          <a:xfrm>
            <a:off x="5623560" y="3227832"/>
            <a:ext cx="2788920" cy="7315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Provide exam and event constraints, monitor placement activity and identify schedule conflicts.</a:t>
            </a:r>
            <a:endParaRPr lang="en-US" sz="1100" dirty="0"/>
          </a:p>
        </p:txBody>
      </p:sp>
      <p:sp>
        <p:nvSpPr>
          <p:cNvPr id="23" name="Text 17"/>
          <p:cNvSpPr txBox="1"/>
          <p:nvPr/>
        </p:nvSpPr>
        <p:spPr>
          <a:xfrm>
            <a:off x="548640" y="4251960"/>
            <a:ext cx="7498080" cy="36576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Also involved:  </a:t>
            </a:r>
            <a:pPr indent="0" marL="0">
              <a:buNone/>
            </a:pPr>
            <a:r>
              <a:rPr lang="en-US" sz="1050" dirty="0">
                <a:solidFill>
                  <a:srgbClr val="6B7280"/>
                </a:solidFill>
                <a:latin typeface="Calibri" pitchFamily="34" charset="0"/>
                <a:ea typeface="Calibri" pitchFamily="34" charset="-122"/>
                <a:cs typeface="Calibri" pitchFamily="34" charset="-120"/>
              </a:rPr>
              <a:t>Placement Administrator (users, integrations, policies, audit records)  ·  Faculty panel (reviews architecture, workflow and results)</a:t>
            </a:r>
            <a:endParaRPr lang="en-US" sz="1050" dirty="0"/>
          </a:p>
        </p:txBody>
      </p:sp>
      <p:sp>
        <p:nvSpPr>
          <p:cNvPr id="24" name="Text 18"/>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Proposed Agentic AI Solution</a:t>
            </a:r>
            <a:endParaRPr lang="en-US" sz="2600" dirty="0"/>
          </a:p>
        </p:txBody>
      </p:sp>
      <p:sp>
        <p:nvSpPr>
          <p:cNvPr id="3" name="Text 1"/>
          <p:cNvSpPr txBox="1"/>
          <p:nvPr/>
        </p:nvSpPr>
        <p:spPr>
          <a:xfrm>
            <a:off x="548640" y="914400"/>
            <a:ext cx="8046720" cy="27432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A stateful multi-agent system where a central orchestrator routes each placement stage to a dedicated specialist agent.</a:t>
            </a:r>
            <a:endParaRPr lang="en-US" sz="1150" dirty="0"/>
          </a:p>
        </p:txBody>
      </p:sp>
      <p:sp>
        <p:nvSpPr>
          <p:cNvPr id="4" name="Shape 2"/>
          <p:cNvSpPr/>
          <p:nvPr/>
        </p:nvSpPr>
        <p:spPr>
          <a:xfrm>
            <a:off x="548640" y="1417320"/>
            <a:ext cx="2560320" cy="2514600"/>
          </a:xfrm>
          <a:prstGeom prst="roundRect">
            <a:avLst>
              <a:gd name="adj" fmla="val 2909"/>
            </a:avLst>
          </a:prstGeom>
          <a:solidFill>
            <a:srgbClr val="F2F3F5"/>
          </a:solidFill>
          <a:ln w="12700">
            <a:solidFill>
              <a:srgbClr val="F2F3F5"/>
            </a:solidFill>
            <a:prstDash val="solid"/>
          </a:ln>
        </p:spPr>
      </p:sp>
      <p:sp>
        <p:nvSpPr>
          <p:cNvPr id="5" name="Text 3"/>
          <p:cNvSpPr txBox="1"/>
          <p:nvPr/>
        </p:nvSpPr>
        <p:spPr>
          <a:xfrm>
            <a:off x="777240" y="1572768"/>
            <a:ext cx="914400" cy="365760"/>
          </a:xfrm>
          <a:prstGeom prst="rect">
            <a:avLst/>
          </a:prstGeom>
          <a:noFill/>
          <a:ln/>
        </p:spPr>
        <p:txBody>
          <a:bodyPr wrap="square" lIns="0" tIns="0" rIns="0" bIns="0" rtlCol="0" anchor="ctr"/>
          <a:lstStyle/>
          <a:p>
            <a:pPr indent="0" marL="0">
              <a:buNone/>
            </a:pPr>
            <a:r>
              <a:rPr lang="en-US" sz="2200" dirty="0">
                <a:solidFill>
                  <a:srgbClr val="A0A7B0"/>
                </a:solidFill>
                <a:latin typeface="Cambria" pitchFamily="34" charset="0"/>
                <a:ea typeface="Cambria" pitchFamily="34" charset="-122"/>
                <a:cs typeface="Cambria" pitchFamily="34" charset="-120"/>
              </a:rPr>
              <a:t>01</a:t>
            </a:r>
            <a:endParaRPr lang="en-US" sz="2200" dirty="0"/>
          </a:p>
        </p:txBody>
      </p:sp>
      <p:sp>
        <p:nvSpPr>
          <p:cNvPr id="6" name="Text 4"/>
          <p:cNvSpPr txBox="1"/>
          <p:nvPr/>
        </p:nvSpPr>
        <p:spPr>
          <a:xfrm>
            <a:off x="777240" y="2011680"/>
            <a:ext cx="2103120" cy="457200"/>
          </a:xfrm>
          <a:prstGeom prst="rect">
            <a:avLst/>
          </a:prstGeom>
          <a:noFill/>
          <a:ln/>
        </p:spPr>
        <p:txBody>
          <a:bodyPr wrap="square" lIns="0" tIns="0" rIns="0" bIns="0"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Orchestration &amp; State Layer</a:t>
            </a:r>
            <a:endParaRPr lang="en-US" sz="1350" dirty="0"/>
          </a:p>
        </p:txBody>
      </p:sp>
      <p:sp>
        <p:nvSpPr>
          <p:cNvPr id="7" name="Text 5"/>
          <p:cNvSpPr txBox="1"/>
          <p:nvPr/>
        </p:nvSpPr>
        <p:spPr>
          <a:xfrm>
            <a:off x="777240" y="2514600"/>
            <a:ext cx="2148840" cy="13258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 stateful LangGraph orchestrator holds the drive state, routes every task to the right agent, monitors progress and triggers re-planning.</a:t>
            </a:r>
            <a:endParaRPr lang="en-US" sz="1050" dirty="0"/>
          </a:p>
        </p:txBody>
      </p:sp>
      <p:sp>
        <p:nvSpPr>
          <p:cNvPr id="8" name="Shape 6"/>
          <p:cNvSpPr/>
          <p:nvPr/>
        </p:nvSpPr>
        <p:spPr>
          <a:xfrm>
            <a:off x="3291840" y="1417320"/>
            <a:ext cx="2560320" cy="2514600"/>
          </a:xfrm>
          <a:prstGeom prst="roundRect">
            <a:avLst>
              <a:gd name="adj" fmla="val 2909"/>
            </a:avLst>
          </a:prstGeom>
          <a:solidFill>
            <a:srgbClr val="3A4756"/>
          </a:solidFill>
          <a:ln w="12700">
            <a:solidFill>
              <a:srgbClr val="3A4756"/>
            </a:solidFill>
            <a:prstDash val="solid"/>
          </a:ln>
        </p:spPr>
      </p:sp>
      <p:sp>
        <p:nvSpPr>
          <p:cNvPr id="9" name="Text 7"/>
          <p:cNvSpPr txBox="1"/>
          <p:nvPr/>
        </p:nvSpPr>
        <p:spPr>
          <a:xfrm>
            <a:off x="3520440" y="1572768"/>
            <a:ext cx="914400" cy="365760"/>
          </a:xfrm>
          <a:prstGeom prst="rect">
            <a:avLst/>
          </a:prstGeom>
          <a:noFill/>
          <a:ln/>
        </p:spPr>
        <p:txBody>
          <a:bodyPr wrap="square" lIns="0" tIns="0" rIns="0" bIns="0" rtlCol="0" anchor="ctr"/>
          <a:lstStyle/>
          <a:p>
            <a:pPr indent="0" marL="0">
              <a:buNone/>
            </a:pPr>
            <a:r>
              <a:rPr lang="en-US" sz="2200" dirty="0">
                <a:solidFill>
                  <a:srgbClr val="C9C4F7"/>
                </a:solidFill>
                <a:latin typeface="Cambria" pitchFamily="34" charset="0"/>
                <a:ea typeface="Cambria" pitchFamily="34" charset="-122"/>
                <a:cs typeface="Cambria" pitchFamily="34" charset="-120"/>
              </a:rPr>
              <a:t>02</a:t>
            </a:r>
            <a:endParaRPr lang="en-US" sz="2200" dirty="0"/>
          </a:p>
        </p:txBody>
      </p:sp>
      <p:sp>
        <p:nvSpPr>
          <p:cNvPr id="10" name="Text 8"/>
          <p:cNvSpPr txBox="1"/>
          <p:nvPr/>
        </p:nvSpPr>
        <p:spPr>
          <a:xfrm>
            <a:off x="3520440" y="2011680"/>
            <a:ext cx="2103120" cy="45720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Specialist Agent Layer</a:t>
            </a:r>
            <a:endParaRPr lang="en-US" sz="1350" dirty="0"/>
          </a:p>
        </p:txBody>
      </p:sp>
      <p:sp>
        <p:nvSpPr>
          <p:cNvPr id="11" name="Text 9"/>
          <p:cNvSpPr txBox="1"/>
          <p:nvPr/>
        </p:nvSpPr>
        <p:spPr>
          <a:xfrm>
            <a:off x="3520440" y="2514600"/>
            <a:ext cx="2148840" cy="1325880"/>
          </a:xfrm>
          <a:prstGeom prst="rect">
            <a:avLst/>
          </a:prstGeom>
          <a:noFill/>
          <a:ln/>
        </p:spPr>
        <p:txBody>
          <a:bodyPr wrap="square" lIns="0" tIns="0" rIns="0" bIns="0" rtlCol="0" anchor="t"/>
          <a:lstStyle/>
          <a:p>
            <a:pPr indent="0" marL="0">
              <a:buNone/>
            </a:pPr>
            <a:r>
              <a:rPr lang="en-US" sz="1050" dirty="0">
                <a:solidFill>
                  <a:srgbClr val="D5DAE1"/>
                </a:solidFill>
                <a:latin typeface="Calibri" pitchFamily="34" charset="0"/>
                <a:ea typeface="Calibri" pitchFamily="34" charset="-122"/>
                <a:cs typeface="Calibri" pitchFamily="34" charset="-120"/>
              </a:rPr>
              <a:t>Ten agents — Company, Eligibility, Verification, Application, Communication, Assessment, Shortlisting, Scheduling, Conflict Checker and Critic — each with one responsibility.</a:t>
            </a:r>
            <a:endParaRPr lang="en-US" sz="1050" dirty="0"/>
          </a:p>
        </p:txBody>
      </p:sp>
      <p:sp>
        <p:nvSpPr>
          <p:cNvPr id="12" name="Shape 10"/>
          <p:cNvSpPr/>
          <p:nvPr/>
        </p:nvSpPr>
        <p:spPr>
          <a:xfrm>
            <a:off x="6035040" y="1417320"/>
            <a:ext cx="2560320" cy="2514600"/>
          </a:xfrm>
          <a:prstGeom prst="roundRect">
            <a:avLst>
              <a:gd name="adj" fmla="val 2909"/>
            </a:avLst>
          </a:prstGeom>
          <a:solidFill>
            <a:srgbClr val="F2F3F5"/>
          </a:solidFill>
          <a:ln w="12700">
            <a:solidFill>
              <a:srgbClr val="F2F3F5"/>
            </a:solidFill>
            <a:prstDash val="solid"/>
          </a:ln>
        </p:spPr>
      </p:sp>
      <p:sp>
        <p:nvSpPr>
          <p:cNvPr id="13" name="Text 11"/>
          <p:cNvSpPr txBox="1"/>
          <p:nvPr/>
        </p:nvSpPr>
        <p:spPr>
          <a:xfrm>
            <a:off x="6263640" y="1572768"/>
            <a:ext cx="914400" cy="365760"/>
          </a:xfrm>
          <a:prstGeom prst="rect">
            <a:avLst/>
          </a:prstGeom>
          <a:noFill/>
          <a:ln/>
        </p:spPr>
        <p:txBody>
          <a:bodyPr wrap="square" lIns="0" tIns="0" rIns="0" bIns="0" rtlCol="0" anchor="ctr"/>
          <a:lstStyle/>
          <a:p>
            <a:pPr indent="0" marL="0">
              <a:buNone/>
            </a:pPr>
            <a:r>
              <a:rPr lang="en-US" sz="2200" dirty="0">
                <a:solidFill>
                  <a:srgbClr val="A0A7B0"/>
                </a:solidFill>
                <a:latin typeface="Cambria" pitchFamily="34" charset="0"/>
                <a:ea typeface="Cambria" pitchFamily="34" charset="-122"/>
                <a:cs typeface="Cambria" pitchFamily="34" charset="-120"/>
              </a:rPr>
              <a:t>03</a:t>
            </a:r>
            <a:endParaRPr lang="en-US" sz="2200" dirty="0"/>
          </a:p>
        </p:txBody>
      </p:sp>
      <p:sp>
        <p:nvSpPr>
          <p:cNvPr id="14" name="Text 12"/>
          <p:cNvSpPr txBox="1"/>
          <p:nvPr/>
        </p:nvSpPr>
        <p:spPr>
          <a:xfrm>
            <a:off x="6263640" y="2011680"/>
            <a:ext cx="2103120" cy="457200"/>
          </a:xfrm>
          <a:prstGeom prst="rect">
            <a:avLst/>
          </a:prstGeom>
          <a:noFill/>
          <a:ln/>
        </p:spPr>
        <p:txBody>
          <a:bodyPr wrap="square" lIns="0" tIns="0" rIns="0" bIns="0"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Knowledge, Memory &amp; Tool Layer</a:t>
            </a:r>
            <a:endParaRPr lang="en-US" sz="1350" dirty="0"/>
          </a:p>
        </p:txBody>
      </p:sp>
      <p:sp>
        <p:nvSpPr>
          <p:cNvPr id="15" name="Text 13"/>
          <p:cNvSpPr txBox="1"/>
          <p:nvPr/>
        </p:nvSpPr>
        <p:spPr>
          <a:xfrm>
            <a:off x="6263640" y="2514600"/>
            <a:ext cx="2148840" cy="13258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Agentic RAG grounds decisions in policies and JDs, memory keeps context, and email, forms, calendar and MCP tools carry out actions.</a:t>
            </a:r>
            <a:endParaRPr lang="en-US" sz="1050" dirty="0"/>
          </a:p>
        </p:txBody>
      </p:sp>
      <p:sp>
        <p:nvSpPr>
          <p:cNvPr id="16" name="Text 14"/>
          <p:cNvSpPr txBox="1"/>
          <p:nvPr/>
        </p:nvSpPr>
        <p:spPr>
          <a:xfrm>
            <a:off x="548640" y="4114800"/>
            <a:ext cx="7498080" cy="54864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Separation of concerns: deterministic services handle filtering, database updates and conflict checks; the LLM handles interpretation, planning and explanation. Humans approve critical actions such as the final shortlist and schedule release.</a:t>
            </a:r>
            <a:endParaRPr lang="en-US" sz="1050" dirty="0"/>
          </a:p>
        </p:txBody>
      </p:sp>
      <p:sp>
        <p:nvSpPr>
          <p:cNvPr id="17" name="Text 15"/>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Dataset &amp; Knowledge Source Identification</a:t>
            </a:r>
            <a:endParaRPr lang="en-US" sz="2600" dirty="0"/>
          </a:p>
        </p:txBody>
      </p:sp>
      <p:sp>
        <p:nvSpPr>
          <p:cNvPr id="3" name="Shape 1"/>
          <p:cNvSpPr/>
          <p:nvPr/>
        </p:nvSpPr>
        <p:spPr>
          <a:xfrm>
            <a:off x="548640" y="1143000"/>
            <a:ext cx="3931920" cy="3520440"/>
          </a:xfrm>
          <a:prstGeom prst="roundRect">
            <a:avLst>
              <a:gd name="adj" fmla="val 2078"/>
            </a:avLst>
          </a:prstGeom>
          <a:solidFill>
            <a:srgbClr val="3A4756"/>
          </a:solidFill>
          <a:ln w="12700">
            <a:solidFill>
              <a:srgbClr val="3A4756"/>
            </a:solidFill>
            <a:prstDash val="solid"/>
          </a:ln>
        </p:spPr>
      </p:sp>
      <p:sp>
        <p:nvSpPr>
          <p:cNvPr id="4" name="Text 2"/>
          <p:cNvSpPr txBox="1"/>
          <p:nvPr/>
        </p:nvSpPr>
        <p:spPr>
          <a:xfrm>
            <a:off x="777240" y="1298448"/>
            <a:ext cx="2743200" cy="228600"/>
          </a:xfrm>
          <a:prstGeom prst="rect">
            <a:avLst/>
          </a:prstGeom>
          <a:noFill/>
          <a:ln/>
        </p:spPr>
        <p:txBody>
          <a:bodyPr wrap="square" lIns="0" tIns="0" rIns="0" bIns="0" rtlCol="0" anchor="ctr"/>
          <a:lstStyle/>
          <a:p>
            <a:pPr indent="0" marL="0">
              <a:buNone/>
            </a:pPr>
            <a:r>
              <a:rPr lang="en-US" sz="950" b="1" spc="200" kern="0" dirty="0">
                <a:solidFill>
                  <a:srgbClr val="C9C4F7"/>
                </a:solidFill>
                <a:latin typeface="Calibri" pitchFamily="34" charset="0"/>
                <a:ea typeface="Calibri" pitchFamily="34" charset="-122"/>
                <a:cs typeface="Calibri" pitchFamily="34" charset="-120"/>
              </a:rPr>
              <a:t>PRIMARY DATA</a:t>
            </a:r>
            <a:endParaRPr lang="en-US" sz="950" dirty="0"/>
          </a:p>
        </p:txBody>
      </p:sp>
      <p:sp>
        <p:nvSpPr>
          <p:cNvPr id="5" name="Text 3"/>
          <p:cNvSpPr txBox="1"/>
          <p:nvPr/>
        </p:nvSpPr>
        <p:spPr>
          <a:xfrm>
            <a:off x="777240" y="1554480"/>
            <a:ext cx="347472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Student &amp; Academic Records</a:t>
            </a:r>
            <a:endParaRPr lang="en-US" sz="1800" dirty="0"/>
          </a:p>
        </p:txBody>
      </p:sp>
      <p:sp>
        <p:nvSpPr>
          <p:cNvPr id="6" name="Text 4"/>
          <p:cNvSpPr txBox="1"/>
          <p:nvPr/>
        </p:nvSpPr>
        <p:spPr>
          <a:xfrm>
            <a:off x="777240" y="1965960"/>
            <a:ext cx="3474720" cy="640080"/>
          </a:xfrm>
          <a:prstGeom prst="rect">
            <a:avLst/>
          </a:prstGeom>
          <a:noFill/>
          <a:ln/>
        </p:spPr>
        <p:txBody>
          <a:bodyPr wrap="square" lIns="0" tIns="0" rIns="0" bIns="0" rtlCol="0" anchor="t"/>
          <a:lstStyle/>
          <a:p>
            <a:pPr indent="0" marL="0">
              <a:buNone/>
            </a:pPr>
            <a:r>
              <a:rPr lang="en-US" sz="1050" dirty="0">
                <a:solidFill>
                  <a:srgbClr val="D5DAE1"/>
                </a:solidFill>
                <a:latin typeface="Calibri" pitchFamily="34" charset="0"/>
                <a:ea typeface="Calibri" pitchFamily="34" charset="-122"/>
                <a:cs typeface="Calibri" pitchFamily="34" charset="-120"/>
              </a:rPr>
              <a:t>Student ID, name, department, graduation batch, CGPA, school marks, arrear status and other institution-approved attributes.</a:t>
            </a:r>
            <a:endParaRPr lang="en-US" sz="1050" dirty="0"/>
          </a:p>
        </p:txBody>
      </p:sp>
      <p:sp>
        <p:nvSpPr>
          <p:cNvPr id="7" name="Text 5"/>
          <p:cNvSpPr txBox="1"/>
          <p:nvPr/>
        </p:nvSpPr>
        <p:spPr>
          <a:xfrm>
            <a:off x="777240" y="2697480"/>
            <a:ext cx="2743200" cy="228600"/>
          </a:xfrm>
          <a:prstGeom prst="rect">
            <a:avLst/>
          </a:prstGeom>
          <a:noFill/>
          <a:ln/>
        </p:spPr>
        <p:txBody>
          <a:bodyPr wrap="square" lIns="0" tIns="0" rIns="0" bIns="0" rtlCol="0" anchor="ctr"/>
          <a:lstStyle/>
          <a:p>
            <a:pPr indent="0" marL="0">
              <a:buNone/>
            </a:pPr>
            <a:r>
              <a:rPr lang="en-US" sz="950" b="1" spc="200" kern="0" dirty="0">
                <a:solidFill>
                  <a:srgbClr val="C9C4F7"/>
                </a:solidFill>
                <a:latin typeface="Calibri" pitchFamily="34" charset="0"/>
                <a:ea typeface="Calibri" pitchFamily="34" charset="-122"/>
                <a:cs typeface="Calibri" pitchFamily="34" charset="-120"/>
              </a:rPr>
              <a:t>DATA SOURCE</a:t>
            </a:r>
            <a:endParaRPr lang="en-US" sz="950" dirty="0"/>
          </a:p>
        </p:txBody>
      </p:sp>
      <p:sp>
        <p:nvSpPr>
          <p:cNvPr id="8" name="Text 6"/>
          <p:cNvSpPr txBox="1"/>
          <p:nvPr/>
        </p:nvSpPr>
        <p:spPr>
          <a:xfrm>
            <a:off x="777240" y="2926080"/>
            <a:ext cx="3474720" cy="640080"/>
          </a:xfrm>
          <a:prstGeom prst="rect">
            <a:avLst/>
          </a:prstGeom>
          <a:noFill/>
          <a:ln/>
        </p:spPr>
        <p:txBody>
          <a:bodyPr wrap="square" lIns="0" tIns="0" rIns="0" bIns="0" rtlCol="0" anchor="t"/>
          <a:lstStyle/>
          <a:p>
            <a:pPr indent="0" marL="0">
              <a:buNone/>
            </a:pPr>
            <a:r>
              <a:rPr lang="en-US" sz="1050" dirty="0">
                <a:solidFill>
                  <a:srgbClr val="D5DAE1"/>
                </a:solidFill>
                <a:latin typeface="Calibri" pitchFamily="34" charset="0"/>
                <a:ea typeface="Calibri" pitchFamily="34" charset="-122"/>
                <a:cs typeface="Calibri" pitchFamily="34" charset="-120"/>
              </a:rPr>
              <a:t>Treated as an authorized result service. The prototype uses a controlled dataset with simulated service responses — no unrestricted portal access.</a:t>
            </a:r>
            <a:endParaRPr lang="en-US" sz="1050" dirty="0"/>
          </a:p>
        </p:txBody>
      </p:sp>
      <p:sp>
        <p:nvSpPr>
          <p:cNvPr id="9" name="Text 7"/>
          <p:cNvSpPr txBox="1"/>
          <p:nvPr/>
        </p:nvSpPr>
        <p:spPr>
          <a:xfrm>
            <a:off x="777240" y="3657600"/>
            <a:ext cx="2743200" cy="228600"/>
          </a:xfrm>
          <a:prstGeom prst="rect">
            <a:avLst/>
          </a:prstGeom>
          <a:noFill/>
          <a:ln/>
        </p:spPr>
        <p:txBody>
          <a:bodyPr wrap="square" lIns="0" tIns="0" rIns="0" bIns="0" rtlCol="0" anchor="ctr"/>
          <a:lstStyle/>
          <a:p>
            <a:pPr indent="0" marL="0">
              <a:buNone/>
            </a:pPr>
            <a:r>
              <a:rPr lang="en-US" sz="950" b="1" spc="200" kern="0" dirty="0">
                <a:solidFill>
                  <a:srgbClr val="C9C4F7"/>
                </a:solidFill>
                <a:latin typeface="Calibri" pitchFamily="34" charset="0"/>
                <a:ea typeface="Calibri" pitchFamily="34" charset="-122"/>
                <a:cs typeface="Calibri" pitchFamily="34" charset="-120"/>
              </a:rPr>
              <a:t>DATA PREPARATION</a:t>
            </a:r>
            <a:endParaRPr lang="en-US" sz="950" dirty="0"/>
          </a:p>
        </p:txBody>
      </p:sp>
      <p:sp>
        <p:nvSpPr>
          <p:cNvPr id="10" name="Text 8"/>
          <p:cNvSpPr txBox="1"/>
          <p:nvPr/>
        </p:nvSpPr>
        <p:spPr>
          <a:xfrm>
            <a:off x="777240" y="3886200"/>
            <a:ext cx="3474720" cy="685800"/>
          </a:xfrm>
          <a:prstGeom prst="rect">
            <a:avLst/>
          </a:prstGeom>
          <a:noFill/>
          <a:ln/>
        </p:spPr>
        <p:txBody>
          <a:bodyPr wrap="square" lIns="0" tIns="0" rIns="0" bIns="0" rtlCol="0" anchor="t"/>
          <a:lstStyle/>
          <a:p>
            <a:pPr indent="0" marL="0">
              <a:buNone/>
            </a:pPr>
            <a:r>
              <a:rPr lang="en-US" sz="1050" dirty="0">
                <a:solidFill>
                  <a:srgbClr val="D5DAE1"/>
                </a:solidFill>
                <a:latin typeface="Calibri" pitchFamily="34" charset="0"/>
                <a:ea typeface="Calibri" pitchFamily="34" charset="-122"/>
                <a:cs typeface="Calibri" pitchFamily="34" charset="-120"/>
              </a:rPr>
              <a:t>Schema validation, department/degree normalization, CGPA &amp; mark standardization, duplicate detection and missing-value handling — all traceable.</a:t>
            </a:r>
            <a:endParaRPr lang="en-US" sz="1050" dirty="0"/>
          </a:p>
        </p:txBody>
      </p:sp>
      <p:sp>
        <p:nvSpPr>
          <p:cNvPr id="11" name="Text 9"/>
          <p:cNvSpPr txBox="1"/>
          <p:nvPr/>
        </p:nvSpPr>
        <p:spPr>
          <a:xfrm>
            <a:off x="4754880" y="1161288"/>
            <a:ext cx="3840480" cy="228600"/>
          </a:xfrm>
          <a:prstGeom prst="rect">
            <a:avLst/>
          </a:prstGeom>
          <a:noFill/>
          <a:ln/>
        </p:spPr>
        <p:txBody>
          <a:bodyPr wrap="square" lIns="0" tIns="0" rIns="0" bIns="0" rtlCol="0" anchor="ctr"/>
          <a:lstStyle/>
          <a:p>
            <a:pPr indent="0" marL="0">
              <a:buNone/>
            </a:pPr>
            <a:r>
              <a:rPr lang="en-US" sz="950" b="1" spc="200" kern="0" dirty="0">
                <a:solidFill>
                  <a:srgbClr val="6B7280"/>
                </a:solidFill>
                <a:latin typeface="Calibri" pitchFamily="34" charset="0"/>
                <a:ea typeface="Calibri" pitchFamily="34" charset="-122"/>
                <a:cs typeface="Calibri" pitchFamily="34" charset="-120"/>
              </a:rPr>
              <a:t>KNOWLEDGE SOURCES &amp; DATA STORES</a:t>
            </a:r>
            <a:endParaRPr lang="en-US" sz="950" dirty="0"/>
          </a:p>
        </p:txBody>
      </p:sp>
      <p:sp>
        <p:nvSpPr>
          <p:cNvPr id="12" name="Shape 10"/>
          <p:cNvSpPr/>
          <p:nvPr/>
        </p:nvSpPr>
        <p:spPr>
          <a:xfrm>
            <a:off x="4754880" y="1463040"/>
            <a:ext cx="3840480" cy="960120"/>
          </a:xfrm>
          <a:prstGeom prst="roundRect">
            <a:avLst>
              <a:gd name="adj" fmla="val 7619"/>
            </a:avLst>
          </a:prstGeom>
          <a:solidFill>
            <a:srgbClr val="F2F3F5"/>
          </a:solidFill>
          <a:ln w="12700">
            <a:solidFill>
              <a:srgbClr val="F2F3F5"/>
            </a:solidFill>
            <a:prstDash val="solid"/>
          </a:ln>
        </p:spPr>
      </p:sp>
      <p:sp>
        <p:nvSpPr>
          <p:cNvPr id="13" name="Text 11"/>
          <p:cNvSpPr txBox="1"/>
          <p:nvPr/>
        </p:nvSpPr>
        <p:spPr>
          <a:xfrm>
            <a:off x="4937760" y="1554480"/>
            <a:ext cx="3520440" cy="256032"/>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Company &amp; Placement Data (PostgreSQL)</a:t>
            </a:r>
            <a:endParaRPr lang="en-US" sz="1200" dirty="0"/>
          </a:p>
        </p:txBody>
      </p:sp>
      <p:sp>
        <p:nvSpPr>
          <p:cNvPr id="14" name="Text 12"/>
          <p:cNvSpPr txBox="1"/>
          <p:nvPr/>
        </p:nvSpPr>
        <p:spPr>
          <a:xfrm>
            <a:off x="4937760" y="1828800"/>
            <a:ext cx="3520440" cy="54864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Role, JD, eligibility conditions, deadlines, assessment and interview requirements, recruiter contacts — one isolated state per drive.</a:t>
            </a:r>
            <a:endParaRPr lang="en-US" sz="1000" dirty="0"/>
          </a:p>
        </p:txBody>
      </p:sp>
      <p:sp>
        <p:nvSpPr>
          <p:cNvPr id="15" name="Shape 13"/>
          <p:cNvSpPr/>
          <p:nvPr/>
        </p:nvSpPr>
        <p:spPr>
          <a:xfrm>
            <a:off x="4754880" y="2542032"/>
            <a:ext cx="3840480" cy="960120"/>
          </a:xfrm>
          <a:prstGeom prst="roundRect">
            <a:avLst>
              <a:gd name="adj" fmla="val 7619"/>
            </a:avLst>
          </a:prstGeom>
          <a:solidFill>
            <a:srgbClr val="F2F3F5"/>
          </a:solidFill>
          <a:ln w="12700">
            <a:solidFill>
              <a:srgbClr val="F2F3F5"/>
            </a:solidFill>
            <a:prstDash val="solid"/>
          </a:ln>
        </p:spPr>
      </p:sp>
      <p:sp>
        <p:nvSpPr>
          <p:cNvPr id="16" name="Text 14"/>
          <p:cNvSpPr txBox="1"/>
          <p:nvPr/>
        </p:nvSpPr>
        <p:spPr>
          <a:xfrm>
            <a:off x="4937760" y="2633472"/>
            <a:ext cx="3520440" cy="256032"/>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Schedule Data</a:t>
            </a:r>
            <a:endParaRPr lang="en-US" sz="1200" dirty="0"/>
          </a:p>
        </p:txBody>
      </p:sp>
      <p:sp>
        <p:nvSpPr>
          <p:cNvPr id="17" name="Text 15"/>
          <p:cNvSpPr txBox="1"/>
          <p:nvPr/>
        </p:nvSpPr>
        <p:spPr>
          <a:xfrm>
            <a:off x="4937760" y="2907792"/>
            <a:ext cx="3520440" cy="54864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Exam dates, classes and events, other placement drives, rooms, panels, interview slots and student availability — modelled as constraints.</a:t>
            </a:r>
            <a:endParaRPr lang="en-US" sz="1000" dirty="0"/>
          </a:p>
        </p:txBody>
      </p:sp>
      <p:sp>
        <p:nvSpPr>
          <p:cNvPr id="18" name="Shape 16"/>
          <p:cNvSpPr/>
          <p:nvPr/>
        </p:nvSpPr>
        <p:spPr>
          <a:xfrm>
            <a:off x="4754880" y="3621024"/>
            <a:ext cx="3840480" cy="960120"/>
          </a:xfrm>
          <a:prstGeom prst="roundRect">
            <a:avLst>
              <a:gd name="adj" fmla="val 7619"/>
            </a:avLst>
          </a:prstGeom>
          <a:solidFill>
            <a:srgbClr val="F2F3F5"/>
          </a:solidFill>
          <a:ln w="12700">
            <a:solidFill>
              <a:srgbClr val="F2F3F5"/>
            </a:solidFill>
            <a:prstDash val="solid"/>
          </a:ln>
        </p:spPr>
      </p:sp>
      <p:sp>
        <p:nvSpPr>
          <p:cNvPr id="19" name="Text 17"/>
          <p:cNvSpPr txBox="1"/>
          <p:nvPr/>
        </p:nvSpPr>
        <p:spPr>
          <a:xfrm>
            <a:off x="4937760" y="3712464"/>
            <a:ext cx="3520440" cy="256032"/>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Policy Knowledge Base (Vector DB)</a:t>
            </a:r>
            <a:endParaRPr lang="en-US" sz="1200" dirty="0"/>
          </a:p>
        </p:txBody>
      </p:sp>
      <p:sp>
        <p:nvSpPr>
          <p:cNvPr id="20" name="Text 18"/>
          <p:cNvSpPr txBox="1"/>
          <p:nvPr/>
        </p:nvSpPr>
        <p:spPr>
          <a:xfrm>
            <a:off x="4937760" y="3986784"/>
            <a:ext cx="3520440" cy="54864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Placement policies, eligibility guidelines, JDs, application, assessment and interview procedures — chunked, embedded and indexed.</a:t>
            </a:r>
            <a:endParaRPr lang="en-US" sz="1000" dirty="0"/>
          </a:p>
        </p:txBody>
      </p:sp>
      <p:sp>
        <p:nvSpPr>
          <p:cNvPr id="21" name="Text 19"/>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Selection of Tools &amp; Frameworks</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051560"/>
          <a:ext cx="8046720" cy="914400"/>
        </p:xfrm>
        <a:graphic>
          <a:graphicData uri="http://schemas.openxmlformats.org/drawingml/2006/table">
            <a:tbl>
              <a:tblPr/>
              <a:tblGrid>
                <a:gridCol w="1645920"/>
                <a:gridCol w="2103120"/>
                <a:gridCol w="429768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Category</a:t>
                      </a:r>
                      <a:endParaRPr lang="en-US" sz="10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A475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Technology Chosen</a:t>
                      </a:r>
                      <a:endParaRPr lang="en-US" sz="10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A475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Justification / Role</a:t>
                      </a:r>
                      <a:endParaRPr lang="en-US" sz="10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A4756"/>
                    </a:solidFill>
                  </a:tcPr>
                </a:tc>
              </a:tr>
              <a:tr h="329184">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Programming</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b="1" dirty="0">
                          <a:solidFill>
                            <a:srgbClr val="5B4FCF"/>
                          </a:solidFill>
                          <a:latin typeface="Calibri" pitchFamily="34" charset="0"/>
                          <a:ea typeface="Calibri" pitchFamily="34" charset="-122"/>
                          <a:cs typeface="Calibri" pitchFamily="34" charset="-120"/>
                        </a:rPr>
                        <a:t>Python</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Core implementation, agent and tool services.</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Agent Orchestration</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c>
                  <a:txBody>
                    <a:bodyPr/>
                    <a:lstStyle/>
                    <a:p>
                      <a:pPr indent="0" marL="0">
                        <a:buNone/>
                      </a:pPr>
                      <a:r>
                        <a:rPr lang="en-US" sz="1000" b="1" dirty="0">
                          <a:solidFill>
                            <a:srgbClr val="5B4FCF"/>
                          </a:solidFill>
                          <a:latin typeface="Calibri" pitchFamily="34" charset="0"/>
                          <a:ea typeface="Calibri" pitchFamily="34" charset="-122"/>
                          <a:cs typeface="Calibri" pitchFamily="34" charset="-120"/>
                        </a:rPr>
                        <a:t>LangGraph + LangChain</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Stateful graph workflow with conditional transitions; reusable prompt, retrieval and tool interfaces.</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r>
              <a:tr h="329184">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LLM</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b="1" dirty="0">
                          <a:solidFill>
                            <a:srgbClr val="5B4FCF"/>
                          </a:solidFill>
                          <a:latin typeface="Calibri" pitchFamily="34" charset="0"/>
                          <a:ea typeface="Calibri" pitchFamily="34" charset="-122"/>
                          <a:cs typeface="Calibri" pitchFamily="34" charset="-120"/>
                        </a:rPr>
                        <a:t>LLM Service</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Requirement interpretation, reasoning, planning and explanation.</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Backend</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c>
                  <a:txBody>
                    <a:bodyPr/>
                    <a:lstStyle/>
                    <a:p>
                      <a:pPr indent="0" marL="0">
                        <a:buNone/>
                      </a:pPr>
                      <a:r>
                        <a:rPr lang="en-US" sz="1000" b="1" dirty="0">
                          <a:solidFill>
                            <a:srgbClr val="5B4FCF"/>
                          </a:solidFill>
                          <a:latin typeface="Calibri" pitchFamily="34" charset="0"/>
                          <a:ea typeface="Calibri" pitchFamily="34" charset="-122"/>
                          <a:cs typeface="Calibri" pitchFamily="34" charset="-120"/>
                        </a:rPr>
                        <a:t>FastAPI</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APIs and service endpoints connecting UI, agents and data.</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r>
              <a:tr h="329184">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Database</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b="1" dirty="0">
                          <a:solidFill>
                            <a:srgbClr val="5B4FCF"/>
                          </a:solidFill>
                          <a:latin typeface="Calibri" pitchFamily="34" charset="0"/>
                          <a:ea typeface="Calibri" pitchFamily="34" charset="-122"/>
                          <a:cs typeface="Calibri" pitchFamily="34" charset="-120"/>
                        </a:rPr>
                        <a:t>PostgreSQL</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Structured student, company, application and schedule records.</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Knowledge Retrieval</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c>
                  <a:txBody>
                    <a:bodyPr/>
                    <a:lstStyle/>
                    <a:p>
                      <a:pPr indent="0" marL="0">
                        <a:buNone/>
                      </a:pPr>
                      <a:r>
                        <a:rPr lang="en-US" sz="1000" b="1" dirty="0">
                          <a:solidFill>
                            <a:srgbClr val="5B4FCF"/>
                          </a:solidFill>
                          <a:latin typeface="Calibri" pitchFamily="34" charset="0"/>
                          <a:ea typeface="Calibri" pitchFamily="34" charset="-122"/>
                          <a:cs typeface="Calibri" pitchFamily="34" charset="-120"/>
                        </a:rPr>
                        <a:t>Embeddings + Vector Database</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Semantic retrieval of policies and JDs for Agentic RAG.</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r>
              <a:tr h="329184">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Frontend</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b="1" dirty="0">
                          <a:solidFill>
                            <a:srgbClr val="5B4FCF"/>
                          </a:solidFill>
                          <a:latin typeface="Calibri" pitchFamily="34" charset="0"/>
                          <a:ea typeface="Calibri" pitchFamily="34" charset="-122"/>
                          <a:cs typeface="Calibri" pitchFamily="34" charset="-120"/>
                        </a:rPr>
                        <a:t>React</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Role-based web interface for students, TPOs, HR and faculty.</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Integration</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c>
                  <a:txBody>
                    <a:bodyPr/>
                    <a:lstStyle/>
                    <a:p>
                      <a:pPr indent="0" marL="0">
                        <a:buNone/>
                      </a:pPr>
                      <a:r>
                        <a:rPr lang="en-US" sz="1000" b="1" dirty="0">
                          <a:solidFill>
                            <a:srgbClr val="5B4FCF"/>
                          </a:solidFill>
                          <a:latin typeface="Calibri" pitchFamily="34" charset="0"/>
                          <a:ea typeface="Calibri" pitchFamily="34" charset="-122"/>
                          <a:cs typeface="Calibri" pitchFamily="34" charset="-120"/>
                        </a:rPr>
                        <a:t>MCP + APIs</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Controlled, consistent access to external tools and services.</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r>
              <a:tr h="329184">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Communication</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b="1" dirty="0">
                          <a:solidFill>
                            <a:srgbClr val="5B4FCF"/>
                          </a:solidFill>
                          <a:latin typeface="Calibri" pitchFamily="34" charset="0"/>
                          <a:ea typeface="Calibri" pitchFamily="34" charset="-122"/>
                          <a:cs typeface="Calibri" pitchFamily="34" charset="-120"/>
                        </a:rPr>
                        <a:t>Email / Notification API</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Invitations, reminders and schedule updates.</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Forms</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c>
                  <a:txBody>
                    <a:bodyPr/>
                    <a:lstStyle/>
                    <a:p>
                      <a:pPr indent="0" marL="0">
                        <a:buNone/>
                      </a:pPr>
                      <a:r>
                        <a:rPr lang="en-US" sz="1000" b="1" dirty="0">
                          <a:solidFill>
                            <a:srgbClr val="5B4FCF"/>
                          </a:solidFill>
                          <a:latin typeface="Calibri" pitchFamily="34" charset="0"/>
                          <a:ea typeface="Calibri" pitchFamily="34" charset="-122"/>
                          <a:cs typeface="Calibri" pitchFamily="34" charset="-120"/>
                        </a:rPr>
                        <a:t>Form Service / Google Forms API</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Company-specific application collection.</a:t>
                      </a:r>
                      <a:endParaRPr lang="en-US" sz="100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r>
            </a:tbl>
          </a:graphicData>
        </a:graphic>
      </p:graphicFrame>
      <p:sp>
        <p:nvSpPr>
          <p:cNvPr id="4" name="Text 1"/>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System Architecture</a:t>
            </a:r>
            <a:endParaRPr lang="en-US" sz="2600" dirty="0"/>
          </a:p>
        </p:txBody>
      </p:sp>
      <p:pic>
        <p:nvPicPr>
          <p:cNvPr id="3" name="Image 0" descr="/home/claude/build/arch.png">    </p:cNvPr>
          <p:cNvPicPr>
            <a:picLocks noChangeAspect="1"/>
          </p:cNvPicPr>
          <p:nvPr/>
        </p:nvPicPr>
        <p:blipFill>
          <a:blip r:embed="rId1"/>
          <a:stretch>
            <a:fillRect/>
          </a:stretch>
        </p:blipFill>
        <p:spPr>
          <a:xfrm>
            <a:off x="457200" y="1051560"/>
            <a:ext cx="5486400" cy="3657600"/>
          </a:xfrm>
          <a:prstGeom prst="rect">
            <a:avLst/>
          </a:prstGeom>
        </p:spPr>
      </p:pic>
      <p:sp>
        <p:nvSpPr>
          <p:cNvPr id="4" name="Text 1"/>
          <p:cNvSpPr txBox="1"/>
          <p:nvPr/>
        </p:nvSpPr>
        <p:spPr>
          <a:xfrm>
            <a:off x="6172200" y="1097280"/>
            <a:ext cx="2468880" cy="228600"/>
          </a:xfrm>
          <a:prstGeom prst="rect">
            <a:avLst/>
          </a:prstGeom>
          <a:noFill/>
          <a:ln/>
        </p:spPr>
        <p:txBody>
          <a:bodyPr wrap="square" lIns="0" tIns="0" rIns="0" bIns="0" rtlCol="0" anchor="ctr"/>
          <a:lstStyle/>
          <a:p>
            <a:pPr indent="0" marL="0">
              <a:buNone/>
            </a:pPr>
            <a:r>
              <a:rPr lang="en-US" sz="950" b="1" spc="200" kern="0" dirty="0">
                <a:solidFill>
                  <a:srgbClr val="6B7280"/>
                </a:solidFill>
                <a:latin typeface="Calibri" pitchFamily="34" charset="0"/>
                <a:ea typeface="Calibri" pitchFamily="34" charset="-122"/>
                <a:cs typeface="Calibri" pitchFamily="34" charset="-120"/>
              </a:rPr>
              <a:t>ARCHITECTURE PRINCIPLES</a:t>
            </a:r>
            <a:endParaRPr lang="en-US" sz="950" dirty="0"/>
          </a:p>
        </p:txBody>
      </p:sp>
      <p:sp>
        <p:nvSpPr>
          <p:cNvPr id="5" name="Text 2"/>
          <p:cNvSpPr txBox="1"/>
          <p:nvPr/>
        </p:nvSpPr>
        <p:spPr>
          <a:xfrm>
            <a:off x="6172200" y="1435608"/>
            <a:ext cx="274320" cy="274320"/>
          </a:xfrm>
          <a:prstGeom prst="rect">
            <a:avLst/>
          </a:prstGeom>
          <a:noFill/>
          <a:ln/>
        </p:spPr>
        <p:txBody>
          <a:bodyPr wrap="square" lIns="0" tIns="0" rIns="0" bIns="0" rtlCol="0" anchor="ctr"/>
          <a:lstStyle/>
          <a:p>
            <a:pPr indent="0" marL="0">
              <a:buNone/>
            </a:pPr>
            <a:r>
              <a:rPr lang="en-US" sz="1300" b="1" dirty="0">
                <a:solidFill>
                  <a:srgbClr val="5B4FCF"/>
                </a:solidFill>
                <a:latin typeface="Cambria" pitchFamily="34" charset="0"/>
                <a:ea typeface="Cambria" pitchFamily="34" charset="-122"/>
                <a:cs typeface="Cambria" pitchFamily="34" charset="-120"/>
              </a:rPr>
              <a:t>1</a:t>
            </a:r>
            <a:endParaRPr lang="en-US" sz="1300" dirty="0"/>
          </a:p>
        </p:txBody>
      </p:sp>
      <p:sp>
        <p:nvSpPr>
          <p:cNvPr id="6" name="Text 3"/>
          <p:cNvSpPr txBox="1"/>
          <p:nvPr/>
        </p:nvSpPr>
        <p:spPr>
          <a:xfrm>
            <a:off x="6492240" y="1417320"/>
            <a:ext cx="2194560" cy="23774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Stateful coordination</a:t>
            </a:r>
            <a:endParaRPr lang="en-US" sz="1200" dirty="0"/>
          </a:p>
        </p:txBody>
      </p:sp>
      <p:sp>
        <p:nvSpPr>
          <p:cNvPr id="7" name="Text 4"/>
          <p:cNvSpPr txBox="1"/>
          <p:nvPr/>
        </p:nvSpPr>
        <p:spPr>
          <a:xfrm>
            <a:off x="6492240" y="1655064"/>
            <a:ext cx="2194560" cy="36576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One shared drive state across agents.</a:t>
            </a:r>
            <a:endParaRPr lang="en-US" sz="1000" dirty="0"/>
          </a:p>
        </p:txBody>
      </p:sp>
      <p:sp>
        <p:nvSpPr>
          <p:cNvPr id="8" name="Text 5"/>
          <p:cNvSpPr txBox="1"/>
          <p:nvPr/>
        </p:nvSpPr>
        <p:spPr>
          <a:xfrm>
            <a:off x="6172200" y="2084832"/>
            <a:ext cx="274320" cy="274320"/>
          </a:xfrm>
          <a:prstGeom prst="rect">
            <a:avLst/>
          </a:prstGeom>
          <a:noFill/>
          <a:ln/>
        </p:spPr>
        <p:txBody>
          <a:bodyPr wrap="square" lIns="0" tIns="0" rIns="0" bIns="0" rtlCol="0" anchor="ctr"/>
          <a:lstStyle/>
          <a:p>
            <a:pPr indent="0" marL="0">
              <a:buNone/>
            </a:pPr>
            <a:r>
              <a:rPr lang="en-US" sz="1300" b="1" dirty="0">
                <a:solidFill>
                  <a:srgbClr val="5B4FCF"/>
                </a:solidFill>
                <a:latin typeface="Cambria" pitchFamily="34" charset="0"/>
                <a:ea typeface="Cambria" pitchFamily="34" charset="-122"/>
                <a:cs typeface="Cambria" pitchFamily="34" charset="-120"/>
              </a:rPr>
              <a:t>2</a:t>
            </a:r>
            <a:endParaRPr lang="en-US" sz="1300" dirty="0"/>
          </a:p>
        </p:txBody>
      </p:sp>
      <p:sp>
        <p:nvSpPr>
          <p:cNvPr id="9" name="Text 6"/>
          <p:cNvSpPr txBox="1"/>
          <p:nvPr/>
        </p:nvSpPr>
        <p:spPr>
          <a:xfrm>
            <a:off x="6492240" y="2066544"/>
            <a:ext cx="2194560" cy="23774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Specialized agents</a:t>
            </a:r>
            <a:endParaRPr lang="en-US" sz="1200" dirty="0"/>
          </a:p>
        </p:txBody>
      </p:sp>
      <p:sp>
        <p:nvSpPr>
          <p:cNvPr id="10" name="Text 7"/>
          <p:cNvSpPr txBox="1"/>
          <p:nvPr/>
        </p:nvSpPr>
        <p:spPr>
          <a:xfrm>
            <a:off x="6492240" y="2304288"/>
            <a:ext cx="2194560" cy="36576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Each agent owns one placement function.</a:t>
            </a:r>
            <a:endParaRPr lang="en-US" sz="1000" dirty="0"/>
          </a:p>
        </p:txBody>
      </p:sp>
      <p:sp>
        <p:nvSpPr>
          <p:cNvPr id="11" name="Text 8"/>
          <p:cNvSpPr txBox="1"/>
          <p:nvPr/>
        </p:nvSpPr>
        <p:spPr>
          <a:xfrm>
            <a:off x="6172200" y="2734056"/>
            <a:ext cx="274320" cy="274320"/>
          </a:xfrm>
          <a:prstGeom prst="rect">
            <a:avLst/>
          </a:prstGeom>
          <a:noFill/>
          <a:ln/>
        </p:spPr>
        <p:txBody>
          <a:bodyPr wrap="square" lIns="0" tIns="0" rIns="0" bIns="0" rtlCol="0" anchor="ctr"/>
          <a:lstStyle/>
          <a:p>
            <a:pPr indent="0" marL="0">
              <a:buNone/>
            </a:pPr>
            <a:r>
              <a:rPr lang="en-US" sz="1300" b="1" dirty="0">
                <a:solidFill>
                  <a:srgbClr val="5B4FCF"/>
                </a:solidFill>
                <a:latin typeface="Cambria" pitchFamily="34" charset="0"/>
                <a:ea typeface="Cambria" pitchFamily="34" charset="-122"/>
                <a:cs typeface="Cambria" pitchFamily="34" charset="-120"/>
              </a:rPr>
              <a:t>3</a:t>
            </a:r>
            <a:endParaRPr lang="en-US" sz="1300" dirty="0"/>
          </a:p>
        </p:txBody>
      </p:sp>
      <p:sp>
        <p:nvSpPr>
          <p:cNvPr id="12" name="Text 9"/>
          <p:cNvSpPr txBox="1"/>
          <p:nvPr/>
        </p:nvSpPr>
        <p:spPr>
          <a:xfrm>
            <a:off x="6492240" y="2715768"/>
            <a:ext cx="2194560" cy="23774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Tool-based action</a:t>
            </a:r>
            <a:endParaRPr lang="en-US" sz="1200" dirty="0"/>
          </a:p>
        </p:txBody>
      </p:sp>
      <p:sp>
        <p:nvSpPr>
          <p:cNvPr id="13" name="Text 10"/>
          <p:cNvSpPr txBox="1"/>
          <p:nvPr/>
        </p:nvSpPr>
        <p:spPr>
          <a:xfrm>
            <a:off x="6492240" y="2953512"/>
            <a:ext cx="2194560" cy="36576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Email, forms, calendar and result services via APIs / MCP.</a:t>
            </a:r>
            <a:endParaRPr lang="en-US" sz="1000" dirty="0"/>
          </a:p>
        </p:txBody>
      </p:sp>
      <p:sp>
        <p:nvSpPr>
          <p:cNvPr id="14" name="Text 11"/>
          <p:cNvSpPr txBox="1"/>
          <p:nvPr/>
        </p:nvSpPr>
        <p:spPr>
          <a:xfrm>
            <a:off x="6172200" y="3383280"/>
            <a:ext cx="274320" cy="274320"/>
          </a:xfrm>
          <a:prstGeom prst="rect">
            <a:avLst/>
          </a:prstGeom>
          <a:noFill/>
          <a:ln/>
        </p:spPr>
        <p:txBody>
          <a:bodyPr wrap="square" lIns="0" tIns="0" rIns="0" bIns="0" rtlCol="0" anchor="ctr"/>
          <a:lstStyle/>
          <a:p>
            <a:pPr indent="0" marL="0">
              <a:buNone/>
            </a:pPr>
            <a:r>
              <a:rPr lang="en-US" sz="1300" b="1" dirty="0">
                <a:solidFill>
                  <a:srgbClr val="5B4FCF"/>
                </a:solidFill>
                <a:latin typeface="Cambria" pitchFamily="34" charset="0"/>
                <a:ea typeface="Cambria" pitchFamily="34" charset="-122"/>
                <a:cs typeface="Cambria" pitchFamily="34" charset="-120"/>
              </a:rPr>
              <a:t>4</a:t>
            </a:r>
            <a:endParaRPr lang="en-US" sz="1300" dirty="0"/>
          </a:p>
        </p:txBody>
      </p:sp>
      <p:sp>
        <p:nvSpPr>
          <p:cNvPr id="15" name="Text 12"/>
          <p:cNvSpPr txBox="1"/>
          <p:nvPr/>
        </p:nvSpPr>
        <p:spPr>
          <a:xfrm>
            <a:off x="6492240" y="3364992"/>
            <a:ext cx="2194560" cy="23774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Grounded retrieval</a:t>
            </a:r>
            <a:endParaRPr lang="en-US" sz="1200" dirty="0"/>
          </a:p>
        </p:txBody>
      </p:sp>
      <p:sp>
        <p:nvSpPr>
          <p:cNvPr id="16" name="Text 13"/>
          <p:cNvSpPr txBox="1"/>
          <p:nvPr/>
        </p:nvSpPr>
        <p:spPr>
          <a:xfrm>
            <a:off x="6492240" y="3602736"/>
            <a:ext cx="2194560" cy="36576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Decisions backed by policies and JDs.</a:t>
            </a:r>
            <a:endParaRPr lang="en-US" sz="1000" dirty="0"/>
          </a:p>
        </p:txBody>
      </p:sp>
      <p:sp>
        <p:nvSpPr>
          <p:cNvPr id="17" name="Text 14"/>
          <p:cNvSpPr txBox="1"/>
          <p:nvPr/>
        </p:nvSpPr>
        <p:spPr>
          <a:xfrm>
            <a:off x="6172200" y="4032504"/>
            <a:ext cx="274320" cy="274320"/>
          </a:xfrm>
          <a:prstGeom prst="rect">
            <a:avLst/>
          </a:prstGeom>
          <a:noFill/>
          <a:ln/>
        </p:spPr>
        <p:txBody>
          <a:bodyPr wrap="square" lIns="0" tIns="0" rIns="0" bIns="0" rtlCol="0" anchor="ctr"/>
          <a:lstStyle/>
          <a:p>
            <a:pPr indent="0" marL="0">
              <a:buNone/>
            </a:pPr>
            <a:r>
              <a:rPr lang="en-US" sz="1300" b="1" dirty="0">
                <a:solidFill>
                  <a:srgbClr val="5B4FCF"/>
                </a:solidFill>
                <a:latin typeface="Cambria" pitchFamily="34" charset="0"/>
                <a:ea typeface="Cambria" pitchFamily="34" charset="-122"/>
                <a:cs typeface="Cambria" pitchFamily="34" charset="-120"/>
              </a:rPr>
              <a:t>5</a:t>
            </a:r>
            <a:endParaRPr lang="en-US" sz="1300" dirty="0"/>
          </a:p>
        </p:txBody>
      </p:sp>
      <p:sp>
        <p:nvSpPr>
          <p:cNvPr id="18" name="Text 15"/>
          <p:cNvSpPr txBox="1"/>
          <p:nvPr/>
        </p:nvSpPr>
        <p:spPr>
          <a:xfrm>
            <a:off x="6492240" y="4014216"/>
            <a:ext cx="2194560" cy="237744"/>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Human approval</a:t>
            </a:r>
            <a:endParaRPr lang="en-US" sz="1200" dirty="0"/>
          </a:p>
        </p:txBody>
      </p:sp>
      <p:sp>
        <p:nvSpPr>
          <p:cNvPr id="19" name="Text 16"/>
          <p:cNvSpPr txBox="1"/>
          <p:nvPr/>
        </p:nvSpPr>
        <p:spPr>
          <a:xfrm>
            <a:off x="6492240" y="4251960"/>
            <a:ext cx="2194560" cy="36576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TPO signs off on critical actions.</a:t>
            </a:r>
            <a:endParaRPr lang="en-US" sz="1000" dirty="0"/>
          </a:p>
        </p:txBody>
      </p:sp>
      <p:sp>
        <p:nvSpPr>
          <p:cNvPr id="20" name="Text 17"/>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Agent Architecture — Roles &amp; Responsibilities</a:t>
            </a:r>
            <a:endParaRPr lang="en-US" sz="2600" dirty="0"/>
          </a:p>
        </p:txBody>
      </p:sp>
      <p:sp>
        <p:nvSpPr>
          <p:cNvPr id="3" name="Shape 1"/>
          <p:cNvSpPr/>
          <p:nvPr/>
        </p:nvSpPr>
        <p:spPr>
          <a:xfrm>
            <a:off x="548640" y="1097280"/>
            <a:ext cx="1499616" cy="1481328"/>
          </a:xfrm>
          <a:prstGeom prst="roundRect">
            <a:avLst>
              <a:gd name="adj" fmla="val 4938"/>
            </a:avLst>
          </a:prstGeom>
          <a:solidFill>
            <a:srgbClr val="F2F3F5"/>
          </a:solidFill>
          <a:ln w="12700">
            <a:solidFill>
              <a:srgbClr val="F2F3F5"/>
            </a:solidFill>
            <a:prstDash val="solid"/>
          </a:ln>
        </p:spPr>
      </p:sp>
      <p:sp>
        <p:nvSpPr>
          <p:cNvPr id="4" name="Shape 2"/>
          <p:cNvSpPr/>
          <p:nvPr/>
        </p:nvSpPr>
        <p:spPr>
          <a:xfrm>
            <a:off x="676656" y="1225296"/>
            <a:ext cx="365760" cy="365760"/>
          </a:xfrm>
          <a:prstGeom prst="ellipse">
            <a:avLst/>
          </a:prstGeom>
          <a:solidFill>
            <a:srgbClr val="5B4FCF"/>
          </a:solidFill>
          <a:ln w="12700">
            <a:solidFill>
              <a:srgbClr val="5B4FCF"/>
            </a:solidFill>
            <a:prstDash val="solid"/>
          </a:ln>
        </p:spPr>
      </p:sp>
      <p:pic>
        <p:nvPicPr>
          <p:cNvPr id="5" name="Image 0" descr="preencoded.png">    </p:cNvPr>
          <p:cNvPicPr>
            <a:picLocks noChangeAspect="1"/>
          </p:cNvPicPr>
          <p:nvPr/>
        </p:nvPicPr>
        <p:blipFill>
          <a:blip r:embed="rId1"/>
          <a:stretch>
            <a:fillRect/>
          </a:stretch>
        </p:blipFill>
        <p:spPr>
          <a:xfrm>
            <a:off x="768096" y="1316736"/>
            <a:ext cx="182880" cy="182880"/>
          </a:xfrm>
          <a:prstGeom prst="rect">
            <a:avLst/>
          </a:prstGeom>
        </p:spPr>
      </p:pic>
      <p:sp>
        <p:nvSpPr>
          <p:cNvPr id="6" name="Text 3"/>
          <p:cNvSpPr txBox="1"/>
          <p:nvPr/>
        </p:nvSpPr>
        <p:spPr>
          <a:xfrm>
            <a:off x="676656" y="1664208"/>
            <a:ext cx="1280160" cy="365760"/>
          </a:xfrm>
          <a:prstGeom prst="rect">
            <a:avLst/>
          </a:prstGeom>
          <a:noFill/>
          <a:ln/>
        </p:spPr>
        <p:txBody>
          <a:bodyPr wrap="square" lIns="0" tIns="0" rIns="0" bIns="0" rtlCol="0" anchor="t"/>
          <a:lstStyle/>
          <a:p>
            <a:pPr indent="0" marL="0">
              <a:buNone/>
            </a:pPr>
            <a:r>
              <a:rPr lang="en-US" sz="1150" b="1" dirty="0">
                <a:solidFill>
                  <a:srgbClr val="1F2933"/>
                </a:solidFill>
                <a:latin typeface="Calibri" pitchFamily="34" charset="0"/>
                <a:ea typeface="Calibri" pitchFamily="34" charset="-122"/>
                <a:cs typeface="Calibri" pitchFamily="34" charset="-120"/>
              </a:rPr>
              <a:t>Company Agent</a:t>
            </a:r>
            <a:endParaRPr lang="en-US" sz="1150" dirty="0"/>
          </a:p>
        </p:txBody>
      </p:sp>
      <p:sp>
        <p:nvSpPr>
          <p:cNvPr id="7" name="Text 4"/>
          <p:cNvSpPr txBox="1"/>
          <p:nvPr/>
        </p:nvSpPr>
        <p:spPr>
          <a:xfrm>
            <a:off x="676656" y="2029968"/>
            <a:ext cx="128016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Turns JDs into structured requirements</a:t>
            </a:r>
            <a:endParaRPr lang="en-US" sz="950" dirty="0"/>
          </a:p>
        </p:txBody>
      </p:sp>
      <p:sp>
        <p:nvSpPr>
          <p:cNvPr id="8" name="Shape 5"/>
          <p:cNvSpPr/>
          <p:nvPr/>
        </p:nvSpPr>
        <p:spPr>
          <a:xfrm>
            <a:off x="2185416" y="1097280"/>
            <a:ext cx="1499616" cy="1481328"/>
          </a:xfrm>
          <a:prstGeom prst="roundRect">
            <a:avLst>
              <a:gd name="adj" fmla="val 4938"/>
            </a:avLst>
          </a:prstGeom>
          <a:solidFill>
            <a:srgbClr val="F2F3F5"/>
          </a:solidFill>
          <a:ln w="12700">
            <a:solidFill>
              <a:srgbClr val="F2F3F5"/>
            </a:solidFill>
            <a:prstDash val="solid"/>
          </a:ln>
        </p:spPr>
      </p:sp>
      <p:sp>
        <p:nvSpPr>
          <p:cNvPr id="9" name="Shape 6"/>
          <p:cNvSpPr/>
          <p:nvPr/>
        </p:nvSpPr>
        <p:spPr>
          <a:xfrm>
            <a:off x="2313432" y="1225296"/>
            <a:ext cx="365760" cy="365760"/>
          </a:xfrm>
          <a:prstGeom prst="ellipse">
            <a:avLst/>
          </a:prstGeom>
          <a:solidFill>
            <a:srgbClr val="5B4FCF"/>
          </a:solidFill>
          <a:ln w="12700">
            <a:solidFill>
              <a:srgbClr val="5B4FCF"/>
            </a:solidFill>
            <a:prstDash val="solid"/>
          </a:ln>
        </p:spPr>
      </p:sp>
      <p:pic>
        <p:nvPicPr>
          <p:cNvPr id="10" name="Image 1" descr="preencoded.png">    </p:cNvPr>
          <p:cNvPicPr>
            <a:picLocks noChangeAspect="1"/>
          </p:cNvPicPr>
          <p:nvPr/>
        </p:nvPicPr>
        <p:blipFill>
          <a:blip r:embed="rId2"/>
          <a:stretch>
            <a:fillRect/>
          </a:stretch>
        </p:blipFill>
        <p:spPr>
          <a:xfrm>
            <a:off x="2404872" y="1316736"/>
            <a:ext cx="182880" cy="182880"/>
          </a:xfrm>
          <a:prstGeom prst="rect">
            <a:avLst/>
          </a:prstGeom>
        </p:spPr>
      </p:pic>
      <p:sp>
        <p:nvSpPr>
          <p:cNvPr id="11" name="Text 7"/>
          <p:cNvSpPr txBox="1"/>
          <p:nvPr/>
        </p:nvSpPr>
        <p:spPr>
          <a:xfrm>
            <a:off x="2313432" y="1664208"/>
            <a:ext cx="1280160" cy="365760"/>
          </a:xfrm>
          <a:prstGeom prst="rect">
            <a:avLst/>
          </a:prstGeom>
          <a:noFill/>
          <a:ln/>
        </p:spPr>
        <p:txBody>
          <a:bodyPr wrap="square" lIns="0" tIns="0" rIns="0" bIns="0" rtlCol="0" anchor="t"/>
          <a:lstStyle/>
          <a:p>
            <a:pPr indent="0" marL="0">
              <a:buNone/>
            </a:pPr>
            <a:r>
              <a:rPr lang="en-US" sz="1150" b="1" dirty="0">
                <a:solidFill>
                  <a:srgbClr val="1F2933"/>
                </a:solidFill>
                <a:latin typeface="Calibri" pitchFamily="34" charset="0"/>
                <a:ea typeface="Calibri" pitchFamily="34" charset="-122"/>
                <a:cs typeface="Calibri" pitchFamily="34" charset="-120"/>
              </a:rPr>
              <a:t>Eligibility Agent</a:t>
            </a:r>
            <a:endParaRPr lang="en-US" sz="1150" dirty="0"/>
          </a:p>
        </p:txBody>
      </p:sp>
      <p:sp>
        <p:nvSpPr>
          <p:cNvPr id="12" name="Text 8"/>
          <p:cNvSpPr txBox="1"/>
          <p:nvPr/>
        </p:nvSpPr>
        <p:spPr>
          <a:xfrm>
            <a:off x="2313432" y="2029968"/>
            <a:ext cx="128016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Filters students against the criteria</a:t>
            </a:r>
            <a:endParaRPr lang="en-US" sz="950" dirty="0"/>
          </a:p>
        </p:txBody>
      </p:sp>
      <p:sp>
        <p:nvSpPr>
          <p:cNvPr id="13" name="Shape 9"/>
          <p:cNvSpPr/>
          <p:nvPr/>
        </p:nvSpPr>
        <p:spPr>
          <a:xfrm>
            <a:off x="3822192" y="1097280"/>
            <a:ext cx="1499616" cy="1481328"/>
          </a:xfrm>
          <a:prstGeom prst="roundRect">
            <a:avLst>
              <a:gd name="adj" fmla="val 4938"/>
            </a:avLst>
          </a:prstGeom>
          <a:solidFill>
            <a:srgbClr val="F2F3F5"/>
          </a:solidFill>
          <a:ln w="12700">
            <a:solidFill>
              <a:srgbClr val="F2F3F5"/>
            </a:solidFill>
            <a:prstDash val="solid"/>
          </a:ln>
        </p:spPr>
      </p:sp>
      <p:sp>
        <p:nvSpPr>
          <p:cNvPr id="14" name="Shape 10"/>
          <p:cNvSpPr/>
          <p:nvPr/>
        </p:nvSpPr>
        <p:spPr>
          <a:xfrm>
            <a:off x="3950208" y="1225296"/>
            <a:ext cx="365760" cy="365760"/>
          </a:xfrm>
          <a:prstGeom prst="ellipse">
            <a:avLst/>
          </a:prstGeom>
          <a:solidFill>
            <a:srgbClr val="5B4FCF"/>
          </a:solidFill>
          <a:ln w="12700">
            <a:solidFill>
              <a:srgbClr val="5B4FCF"/>
            </a:solidFill>
            <a:prstDash val="solid"/>
          </a:ln>
        </p:spPr>
      </p:sp>
      <p:pic>
        <p:nvPicPr>
          <p:cNvPr id="15" name="Image 2" descr="preencoded.png">    </p:cNvPr>
          <p:cNvPicPr>
            <a:picLocks noChangeAspect="1"/>
          </p:cNvPicPr>
          <p:nvPr/>
        </p:nvPicPr>
        <p:blipFill>
          <a:blip r:embed="rId3"/>
          <a:stretch>
            <a:fillRect/>
          </a:stretch>
        </p:blipFill>
        <p:spPr>
          <a:xfrm>
            <a:off x="4041648" y="1316736"/>
            <a:ext cx="182880" cy="182880"/>
          </a:xfrm>
          <a:prstGeom prst="rect">
            <a:avLst/>
          </a:prstGeom>
        </p:spPr>
      </p:pic>
      <p:sp>
        <p:nvSpPr>
          <p:cNvPr id="16" name="Text 11"/>
          <p:cNvSpPr txBox="1"/>
          <p:nvPr/>
        </p:nvSpPr>
        <p:spPr>
          <a:xfrm>
            <a:off x="3950208" y="1664208"/>
            <a:ext cx="1280160" cy="365760"/>
          </a:xfrm>
          <a:prstGeom prst="rect">
            <a:avLst/>
          </a:prstGeom>
          <a:noFill/>
          <a:ln/>
        </p:spPr>
        <p:txBody>
          <a:bodyPr wrap="square" lIns="0" tIns="0" rIns="0" bIns="0" rtlCol="0" anchor="t"/>
          <a:lstStyle/>
          <a:p>
            <a:pPr indent="0" marL="0">
              <a:buNone/>
            </a:pPr>
            <a:r>
              <a:rPr lang="en-US" sz="1150" b="1" dirty="0">
                <a:solidFill>
                  <a:srgbClr val="1F2933"/>
                </a:solidFill>
                <a:latin typeface="Calibri" pitchFamily="34" charset="0"/>
                <a:ea typeface="Calibri" pitchFamily="34" charset="-122"/>
                <a:cs typeface="Calibri" pitchFamily="34" charset="-120"/>
              </a:rPr>
              <a:t>Verification Agent</a:t>
            </a:r>
            <a:endParaRPr lang="en-US" sz="1150" dirty="0"/>
          </a:p>
        </p:txBody>
      </p:sp>
      <p:sp>
        <p:nvSpPr>
          <p:cNvPr id="17" name="Text 12"/>
          <p:cNvSpPr txBox="1"/>
          <p:nvPr/>
        </p:nvSpPr>
        <p:spPr>
          <a:xfrm>
            <a:off x="3950208" y="2029968"/>
            <a:ext cx="128016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Checks evidence with the authorized result source</a:t>
            </a:r>
            <a:endParaRPr lang="en-US" sz="950" dirty="0"/>
          </a:p>
        </p:txBody>
      </p:sp>
      <p:sp>
        <p:nvSpPr>
          <p:cNvPr id="18" name="Shape 13"/>
          <p:cNvSpPr/>
          <p:nvPr/>
        </p:nvSpPr>
        <p:spPr>
          <a:xfrm>
            <a:off x="5458968" y="1097280"/>
            <a:ext cx="1499616" cy="1481328"/>
          </a:xfrm>
          <a:prstGeom prst="roundRect">
            <a:avLst>
              <a:gd name="adj" fmla="val 4938"/>
            </a:avLst>
          </a:prstGeom>
          <a:solidFill>
            <a:srgbClr val="F2F3F5"/>
          </a:solidFill>
          <a:ln w="12700">
            <a:solidFill>
              <a:srgbClr val="F2F3F5"/>
            </a:solidFill>
            <a:prstDash val="solid"/>
          </a:ln>
        </p:spPr>
      </p:sp>
      <p:sp>
        <p:nvSpPr>
          <p:cNvPr id="19" name="Shape 14"/>
          <p:cNvSpPr/>
          <p:nvPr/>
        </p:nvSpPr>
        <p:spPr>
          <a:xfrm>
            <a:off x="5586984" y="1225296"/>
            <a:ext cx="365760" cy="365760"/>
          </a:xfrm>
          <a:prstGeom prst="ellipse">
            <a:avLst/>
          </a:prstGeom>
          <a:solidFill>
            <a:srgbClr val="5B4FCF"/>
          </a:solidFill>
          <a:ln w="12700">
            <a:solidFill>
              <a:srgbClr val="5B4FCF"/>
            </a:solidFill>
            <a:prstDash val="solid"/>
          </a:ln>
        </p:spPr>
      </p:sp>
      <p:pic>
        <p:nvPicPr>
          <p:cNvPr id="20" name="Image 3" descr="preencoded.png">    </p:cNvPr>
          <p:cNvPicPr>
            <a:picLocks noChangeAspect="1"/>
          </p:cNvPicPr>
          <p:nvPr/>
        </p:nvPicPr>
        <p:blipFill>
          <a:blip r:embed="rId4"/>
          <a:stretch>
            <a:fillRect/>
          </a:stretch>
        </p:blipFill>
        <p:spPr>
          <a:xfrm>
            <a:off x="5678424" y="1316736"/>
            <a:ext cx="182880" cy="182880"/>
          </a:xfrm>
          <a:prstGeom prst="rect">
            <a:avLst/>
          </a:prstGeom>
        </p:spPr>
      </p:pic>
      <p:sp>
        <p:nvSpPr>
          <p:cNvPr id="21" name="Text 15"/>
          <p:cNvSpPr txBox="1"/>
          <p:nvPr/>
        </p:nvSpPr>
        <p:spPr>
          <a:xfrm>
            <a:off x="5586984" y="1664208"/>
            <a:ext cx="1280160" cy="365760"/>
          </a:xfrm>
          <a:prstGeom prst="rect">
            <a:avLst/>
          </a:prstGeom>
          <a:noFill/>
          <a:ln/>
        </p:spPr>
        <p:txBody>
          <a:bodyPr wrap="square" lIns="0" tIns="0" rIns="0" bIns="0" rtlCol="0" anchor="t"/>
          <a:lstStyle/>
          <a:p>
            <a:pPr indent="0" marL="0">
              <a:buNone/>
            </a:pPr>
            <a:r>
              <a:rPr lang="en-US" sz="1150" b="1" dirty="0">
                <a:solidFill>
                  <a:srgbClr val="1F2933"/>
                </a:solidFill>
                <a:latin typeface="Calibri" pitchFamily="34" charset="0"/>
                <a:ea typeface="Calibri" pitchFamily="34" charset="-122"/>
                <a:cs typeface="Calibri" pitchFamily="34" charset="-120"/>
              </a:rPr>
              <a:t>Application Agent</a:t>
            </a:r>
            <a:endParaRPr lang="en-US" sz="1150" dirty="0"/>
          </a:p>
        </p:txBody>
      </p:sp>
      <p:sp>
        <p:nvSpPr>
          <p:cNvPr id="22" name="Text 16"/>
          <p:cNvSpPr txBox="1"/>
          <p:nvPr/>
        </p:nvSpPr>
        <p:spPr>
          <a:xfrm>
            <a:off x="5586984" y="2029968"/>
            <a:ext cx="128016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Configures the company-specific application flow</a:t>
            </a:r>
            <a:endParaRPr lang="en-US" sz="950" dirty="0"/>
          </a:p>
        </p:txBody>
      </p:sp>
      <p:sp>
        <p:nvSpPr>
          <p:cNvPr id="23" name="Shape 17"/>
          <p:cNvSpPr/>
          <p:nvPr/>
        </p:nvSpPr>
        <p:spPr>
          <a:xfrm>
            <a:off x="7095744" y="1097280"/>
            <a:ext cx="1499616" cy="1481328"/>
          </a:xfrm>
          <a:prstGeom prst="roundRect">
            <a:avLst>
              <a:gd name="adj" fmla="val 4938"/>
            </a:avLst>
          </a:prstGeom>
          <a:solidFill>
            <a:srgbClr val="F2F3F5"/>
          </a:solidFill>
          <a:ln w="12700">
            <a:solidFill>
              <a:srgbClr val="F2F3F5"/>
            </a:solidFill>
            <a:prstDash val="solid"/>
          </a:ln>
        </p:spPr>
      </p:sp>
      <p:sp>
        <p:nvSpPr>
          <p:cNvPr id="24" name="Shape 18"/>
          <p:cNvSpPr/>
          <p:nvPr/>
        </p:nvSpPr>
        <p:spPr>
          <a:xfrm>
            <a:off x="7223760" y="1225296"/>
            <a:ext cx="365760" cy="365760"/>
          </a:xfrm>
          <a:prstGeom prst="ellipse">
            <a:avLst/>
          </a:prstGeom>
          <a:solidFill>
            <a:srgbClr val="5B4FCF"/>
          </a:solidFill>
          <a:ln w="12700">
            <a:solidFill>
              <a:srgbClr val="5B4FCF"/>
            </a:solidFill>
            <a:prstDash val="solid"/>
          </a:ln>
        </p:spPr>
      </p:sp>
      <p:pic>
        <p:nvPicPr>
          <p:cNvPr id="25" name="Image 4" descr="preencoded.png">    </p:cNvPr>
          <p:cNvPicPr>
            <a:picLocks noChangeAspect="1"/>
          </p:cNvPicPr>
          <p:nvPr/>
        </p:nvPicPr>
        <p:blipFill>
          <a:blip r:embed="rId5"/>
          <a:stretch>
            <a:fillRect/>
          </a:stretch>
        </p:blipFill>
        <p:spPr>
          <a:xfrm>
            <a:off x="7315200" y="1316736"/>
            <a:ext cx="182880" cy="182880"/>
          </a:xfrm>
          <a:prstGeom prst="rect">
            <a:avLst/>
          </a:prstGeom>
        </p:spPr>
      </p:pic>
      <p:sp>
        <p:nvSpPr>
          <p:cNvPr id="26" name="Text 19"/>
          <p:cNvSpPr txBox="1"/>
          <p:nvPr/>
        </p:nvSpPr>
        <p:spPr>
          <a:xfrm>
            <a:off x="7223760" y="1664208"/>
            <a:ext cx="1280160" cy="365760"/>
          </a:xfrm>
          <a:prstGeom prst="rect">
            <a:avLst/>
          </a:prstGeom>
          <a:noFill/>
          <a:ln/>
        </p:spPr>
        <p:txBody>
          <a:bodyPr wrap="square" lIns="0" tIns="0" rIns="0" bIns="0" rtlCol="0" anchor="t"/>
          <a:lstStyle/>
          <a:p>
            <a:pPr indent="0" marL="0">
              <a:buNone/>
            </a:pPr>
            <a:r>
              <a:rPr lang="en-US" sz="1150" b="1" dirty="0">
                <a:solidFill>
                  <a:srgbClr val="1F2933"/>
                </a:solidFill>
                <a:latin typeface="Calibri" pitchFamily="34" charset="0"/>
                <a:ea typeface="Calibri" pitchFamily="34" charset="-122"/>
                <a:cs typeface="Calibri" pitchFamily="34" charset="-120"/>
              </a:rPr>
              <a:t>Communication Agent</a:t>
            </a:r>
            <a:endParaRPr lang="en-US" sz="1150" dirty="0"/>
          </a:p>
        </p:txBody>
      </p:sp>
      <p:sp>
        <p:nvSpPr>
          <p:cNvPr id="27" name="Text 20"/>
          <p:cNvSpPr txBox="1"/>
          <p:nvPr/>
        </p:nvSpPr>
        <p:spPr>
          <a:xfrm>
            <a:off x="7223760" y="2029968"/>
            <a:ext cx="128016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Sends invites and reminders to pending students</a:t>
            </a:r>
            <a:endParaRPr lang="en-US" sz="950" dirty="0"/>
          </a:p>
        </p:txBody>
      </p:sp>
      <p:sp>
        <p:nvSpPr>
          <p:cNvPr id="28" name="Shape 21"/>
          <p:cNvSpPr/>
          <p:nvPr/>
        </p:nvSpPr>
        <p:spPr>
          <a:xfrm>
            <a:off x="548640" y="2697480"/>
            <a:ext cx="1499616" cy="1481328"/>
          </a:xfrm>
          <a:prstGeom prst="roundRect">
            <a:avLst>
              <a:gd name="adj" fmla="val 4938"/>
            </a:avLst>
          </a:prstGeom>
          <a:solidFill>
            <a:srgbClr val="F2F3F5"/>
          </a:solidFill>
          <a:ln w="12700">
            <a:solidFill>
              <a:srgbClr val="F2F3F5"/>
            </a:solidFill>
            <a:prstDash val="solid"/>
          </a:ln>
        </p:spPr>
      </p:sp>
      <p:sp>
        <p:nvSpPr>
          <p:cNvPr id="29" name="Shape 22"/>
          <p:cNvSpPr/>
          <p:nvPr/>
        </p:nvSpPr>
        <p:spPr>
          <a:xfrm>
            <a:off x="676656" y="2825496"/>
            <a:ext cx="365760" cy="365760"/>
          </a:xfrm>
          <a:prstGeom prst="ellipse">
            <a:avLst/>
          </a:prstGeom>
          <a:solidFill>
            <a:srgbClr val="5B4FCF"/>
          </a:solidFill>
          <a:ln w="12700">
            <a:solidFill>
              <a:srgbClr val="5B4FCF"/>
            </a:solidFill>
            <a:prstDash val="solid"/>
          </a:ln>
        </p:spPr>
      </p:sp>
      <p:pic>
        <p:nvPicPr>
          <p:cNvPr id="30" name="Image 5" descr="preencoded.png">    </p:cNvPr>
          <p:cNvPicPr>
            <a:picLocks noChangeAspect="1"/>
          </p:cNvPicPr>
          <p:nvPr/>
        </p:nvPicPr>
        <p:blipFill>
          <a:blip r:embed="rId6"/>
          <a:stretch>
            <a:fillRect/>
          </a:stretch>
        </p:blipFill>
        <p:spPr>
          <a:xfrm>
            <a:off x="768096" y="2916936"/>
            <a:ext cx="182880" cy="182880"/>
          </a:xfrm>
          <a:prstGeom prst="rect">
            <a:avLst/>
          </a:prstGeom>
        </p:spPr>
      </p:pic>
      <p:sp>
        <p:nvSpPr>
          <p:cNvPr id="31" name="Text 23"/>
          <p:cNvSpPr txBox="1"/>
          <p:nvPr/>
        </p:nvSpPr>
        <p:spPr>
          <a:xfrm>
            <a:off x="676656" y="3264408"/>
            <a:ext cx="1280160" cy="365760"/>
          </a:xfrm>
          <a:prstGeom prst="rect">
            <a:avLst/>
          </a:prstGeom>
          <a:noFill/>
          <a:ln/>
        </p:spPr>
        <p:txBody>
          <a:bodyPr wrap="square" lIns="0" tIns="0" rIns="0" bIns="0" rtlCol="0" anchor="t"/>
          <a:lstStyle/>
          <a:p>
            <a:pPr indent="0" marL="0">
              <a:buNone/>
            </a:pPr>
            <a:r>
              <a:rPr lang="en-US" sz="1150" b="1" dirty="0">
                <a:solidFill>
                  <a:srgbClr val="1F2933"/>
                </a:solidFill>
                <a:latin typeface="Calibri" pitchFamily="34" charset="0"/>
                <a:ea typeface="Calibri" pitchFamily="34" charset="-122"/>
                <a:cs typeface="Calibri" pitchFamily="34" charset="-120"/>
              </a:rPr>
              <a:t>Assessment Agent</a:t>
            </a:r>
            <a:endParaRPr lang="en-US" sz="1150" dirty="0"/>
          </a:p>
        </p:txBody>
      </p:sp>
      <p:sp>
        <p:nvSpPr>
          <p:cNvPr id="32" name="Text 24"/>
          <p:cNvSpPr txBox="1"/>
          <p:nvPr/>
        </p:nvSpPr>
        <p:spPr>
          <a:xfrm>
            <a:off x="676656" y="3630168"/>
            <a:ext cx="128016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Processes authorized test results</a:t>
            </a:r>
            <a:endParaRPr lang="en-US" sz="950" dirty="0"/>
          </a:p>
        </p:txBody>
      </p:sp>
      <p:sp>
        <p:nvSpPr>
          <p:cNvPr id="33" name="Shape 25"/>
          <p:cNvSpPr/>
          <p:nvPr/>
        </p:nvSpPr>
        <p:spPr>
          <a:xfrm>
            <a:off x="2185416" y="2697480"/>
            <a:ext cx="1499616" cy="1481328"/>
          </a:xfrm>
          <a:prstGeom prst="roundRect">
            <a:avLst>
              <a:gd name="adj" fmla="val 4938"/>
            </a:avLst>
          </a:prstGeom>
          <a:solidFill>
            <a:srgbClr val="F2F3F5"/>
          </a:solidFill>
          <a:ln w="12700">
            <a:solidFill>
              <a:srgbClr val="F2F3F5"/>
            </a:solidFill>
            <a:prstDash val="solid"/>
          </a:ln>
        </p:spPr>
      </p:sp>
      <p:sp>
        <p:nvSpPr>
          <p:cNvPr id="34" name="Shape 26"/>
          <p:cNvSpPr/>
          <p:nvPr/>
        </p:nvSpPr>
        <p:spPr>
          <a:xfrm>
            <a:off x="2313432" y="2825496"/>
            <a:ext cx="365760" cy="365760"/>
          </a:xfrm>
          <a:prstGeom prst="ellipse">
            <a:avLst/>
          </a:prstGeom>
          <a:solidFill>
            <a:srgbClr val="5B4FCF"/>
          </a:solidFill>
          <a:ln w="12700">
            <a:solidFill>
              <a:srgbClr val="5B4FCF"/>
            </a:solidFill>
            <a:prstDash val="solid"/>
          </a:ln>
        </p:spPr>
      </p:sp>
      <p:pic>
        <p:nvPicPr>
          <p:cNvPr id="35" name="Image 6" descr="preencoded.png">    </p:cNvPr>
          <p:cNvPicPr>
            <a:picLocks noChangeAspect="1"/>
          </p:cNvPicPr>
          <p:nvPr/>
        </p:nvPicPr>
        <p:blipFill>
          <a:blip r:embed="rId7"/>
          <a:stretch>
            <a:fillRect/>
          </a:stretch>
        </p:blipFill>
        <p:spPr>
          <a:xfrm>
            <a:off x="2404872" y="2916936"/>
            <a:ext cx="182880" cy="182880"/>
          </a:xfrm>
          <a:prstGeom prst="rect">
            <a:avLst/>
          </a:prstGeom>
        </p:spPr>
      </p:pic>
      <p:sp>
        <p:nvSpPr>
          <p:cNvPr id="36" name="Text 27"/>
          <p:cNvSpPr txBox="1"/>
          <p:nvPr/>
        </p:nvSpPr>
        <p:spPr>
          <a:xfrm>
            <a:off x="2313432" y="3264408"/>
            <a:ext cx="1280160" cy="365760"/>
          </a:xfrm>
          <a:prstGeom prst="rect">
            <a:avLst/>
          </a:prstGeom>
          <a:noFill/>
          <a:ln/>
        </p:spPr>
        <p:txBody>
          <a:bodyPr wrap="square" lIns="0" tIns="0" rIns="0" bIns="0" rtlCol="0" anchor="t"/>
          <a:lstStyle/>
          <a:p>
            <a:pPr indent="0" marL="0">
              <a:buNone/>
            </a:pPr>
            <a:r>
              <a:rPr lang="en-US" sz="1150" b="1" dirty="0">
                <a:solidFill>
                  <a:srgbClr val="1F2933"/>
                </a:solidFill>
                <a:latin typeface="Calibri" pitchFamily="34" charset="0"/>
                <a:ea typeface="Calibri" pitchFamily="34" charset="-122"/>
                <a:cs typeface="Calibri" pitchFamily="34" charset="-120"/>
              </a:rPr>
              <a:t>Shortlisting Agent</a:t>
            </a:r>
            <a:endParaRPr lang="en-US" sz="1150" dirty="0"/>
          </a:p>
        </p:txBody>
      </p:sp>
      <p:sp>
        <p:nvSpPr>
          <p:cNvPr id="37" name="Text 28"/>
          <p:cNvSpPr txBox="1"/>
          <p:nvPr/>
        </p:nvSpPr>
        <p:spPr>
          <a:xfrm>
            <a:off x="2313432" y="3630168"/>
            <a:ext cx="128016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Applies approved criteria to verified candidates</a:t>
            </a:r>
            <a:endParaRPr lang="en-US" sz="950" dirty="0"/>
          </a:p>
        </p:txBody>
      </p:sp>
      <p:sp>
        <p:nvSpPr>
          <p:cNvPr id="38" name="Shape 29"/>
          <p:cNvSpPr/>
          <p:nvPr/>
        </p:nvSpPr>
        <p:spPr>
          <a:xfrm>
            <a:off x="3822192" y="2697480"/>
            <a:ext cx="1499616" cy="1481328"/>
          </a:xfrm>
          <a:prstGeom prst="roundRect">
            <a:avLst>
              <a:gd name="adj" fmla="val 4938"/>
            </a:avLst>
          </a:prstGeom>
          <a:solidFill>
            <a:srgbClr val="F2F3F5"/>
          </a:solidFill>
          <a:ln w="12700">
            <a:solidFill>
              <a:srgbClr val="F2F3F5"/>
            </a:solidFill>
            <a:prstDash val="solid"/>
          </a:ln>
        </p:spPr>
      </p:sp>
      <p:sp>
        <p:nvSpPr>
          <p:cNvPr id="39" name="Shape 30"/>
          <p:cNvSpPr/>
          <p:nvPr/>
        </p:nvSpPr>
        <p:spPr>
          <a:xfrm>
            <a:off x="3950208" y="2825496"/>
            <a:ext cx="365760" cy="365760"/>
          </a:xfrm>
          <a:prstGeom prst="ellipse">
            <a:avLst/>
          </a:prstGeom>
          <a:solidFill>
            <a:srgbClr val="5B4FCF"/>
          </a:solidFill>
          <a:ln w="12700">
            <a:solidFill>
              <a:srgbClr val="5B4FCF"/>
            </a:solidFill>
            <a:prstDash val="solid"/>
          </a:ln>
        </p:spPr>
      </p:sp>
      <p:pic>
        <p:nvPicPr>
          <p:cNvPr id="40" name="Image 7" descr="preencoded.png">    </p:cNvPr>
          <p:cNvPicPr>
            <a:picLocks noChangeAspect="1"/>
          </p:cNvPicPr>
          <p:nvPr/>
        </p:nvPicPr>
        <p:blipFill>
          <a:blip r:embed="rId8"/>
          <a:stretch>
            <a:fillRect/>
          </a:stretch>
        </p:blipFill>
        <p:spPr>
          <a:xfrm>
            <a:off x="4041648" y="2916936"/>
            <a:ext cx="182880" cy="182880"/>
          </a:xfrm>
          <a:prstGeom prst="rect">
            <a:avLst/>
          </a:prstGeom>
        </p:spPr>
      </p:pic>
      <p:sp>
        <p:nvSpPr>
          <p:cNvPr id="41" name="Text 31"/>
          <p:cNvSpPr txBox="1"/>
          <p:nvPr/>
        </p:nvSpPr>
        <p:spPr>
          <a:xfrm>
            <a:off x="3950208" y="3264408"/>
            <a:ext cx="1280160" cy="365760"/>
          </a:xfrm>
          <a:prstGeom prst="rect">
            <a:avLst/>
          </a:prstGeom>
          <a:noFill/>
          <a:ln/>
        </p:spPr>
        <p:txBody>
          <a:bodyPr wrap="square" lIns="0" tIns="0" rIns="0" bIns="0" rtlCol="0" anchor="t"/>
          <a:lstStyle/>
          <a:p>
            <a:pPr indent="0" marL="0">
              <a:buNone/>
            </a:pPr>
            <a:r>
              <a:rPr lang="en-US" sz="1150" b="1" dirty="0">
                <a:solidFill>
                  <a:srgbClr val="1F2933"/>
                </a:solidFill>
                <a:latin typeface="Calibri" pitchFamily="34" charset="0"/>
                <a:ea typeface="Calibri" pitchFamily="34" charset="-122"/>
                <a:cs typeface="Calibri" pitchFamily="34" charset="-120"/>
              </a:rPr>
              <a:t>Scheduling Agent</a:t>
            </a:r>
            <a:endParaRPr lang="en-US" sz="1150" dirty="0"/>
          </a:p>
        </p:txBody>
      </p:sp>
      <p:sp>
        <p:nvSpPr>
          <p:cNvPr id="42" name="Text 32"/>
          <p:cNvSpPr txBox="1"/>
          <p:nvPr/>
        </p:nvSpPr>
        <p:spPr>
          <a:xfrm>
            <a:off x="3950208" y="3630168"/>
            <a:ext cx="128016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Builds slots around exams, drives, rooms and panels</a:t>
            </a:r>
            <a:endParaRPr lang="en-US" sz="950" dirty="0"/>
          </a:p>
        </p:txBody>
      </p:sp>
      <p:sp>
        <p:nvSpPr>
          <p:cNvPr id="43" name="Shape 33"/>
          <p:cNvSpPr/>
          <p:nvPr/>
        </p:nvSpPr>
        <p:spPr>
          <a:xfrm>
            <a:off x="5458968" y="2697480"/>
            <a:ext cx="1499616" cy="1481328"/>
          </a:xfrm>
          <a:prstGeom prst="roundRect">
            <a:avLst>
              <a:gd name="adj" fmla="val 4938"/>
            </a:avLst>
          </a:prstGeom>
          <a:solidFill>
            <a:srgbClr val="F2F3F5"/>
          </a:solidFill>
          <a:ln w="12700">
            <a:solidFill>
              <a:srgbClr val="F2F3F5"/>
            </a:solidFill>
            <a:prstDash val="solid"/>
          </a:ln>
        </p:spPr>
      </p:sp>
      <p:sp>
        <p:nvSpPr>
          <p:cNvPr id="44" name="Shape 34"/>
          <p:cNvSpPr/>
          <p:nvPr/>
        </p:nvSpPr>
        <p:spPr>
          <a:xfrm>
            <a:off x="5586984" y="2825496"/>
            <a:ext cx="365760" cy="365760"/>
          </a:xfrm>
          <a:prstGeom prst="ellipse">
            <a:avLst/>
          </a:prstGeom>
          <a:solidFill>
            <a:srgbClr val="5B4FCF"/>
          </a:solidFill>
          <a:ln w="12700">
            <a:solidFill>
              <a:srgbClr val="5B4FCF"/>
            </a:solidFill>
            <a:prstDash val="solid"/>
          </a:ln>
        </p:spPr>
      </p:sp>
      <p:pic>
        <p:nvPicPr>
          <p:cNvPr id="45" name="Image 8" descr="preencoded.png">    </p:cNvPr>
          <p:cNvPicPr>
            <a:picLocks noChangeAspect="1"/>
          </p:cNvPicPr>
          <p:nvPr/>
        </p:nvPicPr>
        <p:blipFill>
          <a:blip r:embed="rId9"/>
          <a:stretch>
            <a:fillRect/>
          </a:stretch>
        </p:blipFill>
        <p:spPr>
          <a:xfrm>
            <a:off x="5678424" y="2916936"/>
            <a:ext cx="182880" cy="182880"/>
          </a:xfrm>
          <a:prstGeom prst="rect">
            <a:avLst/>
          </a:prstGeom>
        </p:spPr>
      </p:pic>
      <p:sp>
        <p:nvSpPr>
          <p:cNvPr id="46" name="Text 35"/>
          <p:cNvSpPr txBox="1"/>
          <p:nvPr/>
        </p:nvSpPr>
        <p:spPr>
          <a:xfrm>
            <a:off x="5586984" y="3264408"/>
            <a:ext cx="1280160" cy="365760"/>
          </a:xfrm>
          <a:prstGeom prst="rect">
            <a:avLst/>
          </a:prstGeom>
          <a:noFill/>
          <a:ln/>
        </p:spPr>
        <p:txBody>
          <a:bodyPr wrap="square" lIns="0" tIns="0" rIns="0" bIns="0" rtlCol="0" anchor="t"/>
          <a:lstStyle/>
          <a:p>
            <a:pPr indent="0" marL="0">
              <a:buNone/>
            </a:pPr>
            <a:r>
              <a:rPr lang="en-US" sz="1150" b="1" dirty="0">
                <a:solidFill>
                  <a:srgbClr val="1F2933"/>
                </a:solidFill>
                <a:latin typeface="Calibri" pitchFamily="34" charset="0"/>
                <a:ea typeface="Calibri" pitchFamily="34" charset="-122"/>
                <a:cs typeface="Calibri" pitchFamily="34" charset="-120"/>
              </a:rPr>
              <a:t>Conflict Checker</a:t>
            </a:r>
            <a:endParaRPr lang="en-US" sz="1150" dirty="0"/>
          </a:p>
        </p:txBody>
      </p:sp>
      <p:sp>
        <p:nvSpPr>
          <p:cNvPr id="47" name="Text 36"/>
          <p:cNvSpPr txBox="1"/>
          <p:nvPr/>
        </p:nvSpPr>
        <p:spPr>
          <a:xfrm>
            <a:off x="5586984" y="3630168"/>
            <a:ext cx="128016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Validates schedules and flags clashes</a:t>
            </a:r>
            <a:endParaRPr lang="en-US" sz="950" dirty="0"/>
          </a:p>
        </p:txBody>
      </p:sp>
      <p:sp>
        <p:nvSpPr>
          <p:cNvPr id="48" name="Shape 37"/>
          <p:cNvSpPr/>
          <p:nvPr/>
        </p:nvSpPr>
        <p:spPr>
          <a:xfrm>
            <a:off x="7095744" y="2697480"/>
            <a:ext cx="1499616" cy="1481328"/>
          </a:xfrm>
          <a:prstGeom prst="roundRect">
            <a:avLst>
              <a:gd name="adj" fmla="val 4938"/>
            </a:avLst>
          </a:prstGeom>
          <a:solidFill>
            <a:srgbClr val="F2F3F5"/>
          </a:solidFill>
          <a:ln w="12700">
            <a:solidFill>
              <a:srgbClr val="F2F3F5"/>
            </a:solidFill>
            <a:prstDash val="solid"/>
          </a:ln>
        </p:spPr>
      </p:sp>
      <p:sp>
        <p:nvSpPr>
          <p:cNvPr id="49" name="Shape 38"/>
          <p:cNvSpPr/>
          <p:nvPr/>
        </p:nvSpPr>
        <p:spPr>
          <a:xfrm>
            <a:off x="7223760" y="2825496"/>
            <a:ext cx="365760" cy="365760"/>
          </a:xfrm>
          <a:prstGeom prst="ellipse">
            <a:avLst/>
          </a:prstGeom>
          <a:solidFill>
            <a:srgbClr val="5B4FCF"/>
          </a:solidFill>
          <a:ln w="12700">
            <a:solidFill>
              <a:srgbClr val="5B4FCF"/>
            </a:solidFill>
            <a:prstDash val="solid"/>
          </a:ln>
        </p:spPr>
      </p:sp>
      <p:pic>
        <p:nvPicPr>
          <p:cNvPr id="50" name="Image 9" descr="preencoded.png">    </p:cNvPr>
          <p:cNvPicPr>
            <a:picLocks noChangeAspect="1"/>
          </p:cNvPicPr>
          <p:nvPr/>
        </p:nvPicPr>
        <p:blipFill>
          <a:blip r:embed="rId10"/>
          <a:stretch>
            <a:fillRect/>
          </a:stretch>
        </p:blipFill>
        <p:spPr>
          <a:xfrm>
            <a:off x="7315200" y="2916936"/>
            <a:ext cx="182880" cy="182880"/>
          </a:xfrm>
          <a:prstGeom prst="rect">
            <a:avLst/>
          </a:prstGeom>
        </p:spPr>
      </p:pic>
      <p:sp>
        <p:nvSpPr>
          <p:cNvPr id="51" name="Text 39"/>
          <p:cNvSpPr txBox="1"/>
          <p:nvPr/>
        </p:nvSpPr>
        <p:spPr>
          <a:xfrm>
            <a:off x="7223760" y="3264408"/>
            <a:ext cx="1280160" cy="365760"/>
          </a:xfrm>
          <a:prstGeom prst="rect">
            <a:avLst/>
          </a:prstGeom>
          <a:noFill/>
          <a:ln/>
        </p:spPr>
        <p:txBody>
          <a:bodyPr wrap="square" lIns="0" tIns="0" rIns="0" bIns="0" rtlCol="0" anchor="t"/>
          <a:lstStyle/>
          <a:p>
            <a:pPr indent="0" marL="0">
              <a:buNone/>
            </a:pPr>
            <a:r>
              <a:rPr lang="en-US" sz="1150" b="1" dirty="0">
                <a:solidFill>
                  <a:srgbClr val="1F2933"/>
                </a:solidFill>
                <a:latin typeface="Calibri" pitchFamily="34" charset="0"/>
                <a:ea typeface="Calibri" pitchFamily="34" charset="-122"/>
                <a:cs typeface="Calibri" pitchFamily="34" charset="-120"/>
              </a:rPr>
              <a:t>Critic / Reflection</a:t>
            </a:r>
            <a:endParaRPr lang="en-US" sz="1150" dirty="0"/>
          </a:p>
        </p:txBody>
      </p:sp>
      <p:sp>
        <p:nvSpPr>
          <p:cNvPr id="52" name="Text 40"/>
          <p:cNvSpPr txBox="1"/>
          <p:nvPr/>
        </p:nvSpPr>
        <p:spPr>
          <a:xfrm>
            <a:off x="7223760" y="3630168"/>
            <a:ext cx="128016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Reviews outputs and triggers re-planning</a:t>
            </a:r>
            <a:endParaRPr lang="en-US" sz="950" dirty="0"/>
          </a:p>
        </p:txBody>
      </p:sp>
      <p:sp>
        <p:nvSpPr>
          <p:cNvPr id="53" name="Text 41"/>
          <p:cNvSpPr txBox="1"/>
          <p:nvPr/>
        </p:nvSpPr>
        <p:spPr>
          <a:xfrm>
            <a:off x="548640" y="4343400"/>
            <a:ext cx="7315200" cy="32004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Each agent receives only the state it needs and returns a structured result; the orchestrator records it and decides the next transition.</a:t>
            </a:r>
            <a:endParaRPr lang="en-US" sz="1050" dirty="0"/>
          </a:p>
        </p:txBody>
      </p:sp>
      <p:sp>
        <p:nvSpPr>
          <p:cNvPr id="54" name="Text 42"/>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Agent Workflow &amp; Orchestration Design</a:t>
            </a:r>
            <a:endParaRPr lang="en-US" sz="2600" dirty="0"/>
          </a:p>
        </p:txBody>
      </p:sp>
      <p:sp>
        <p:nvSpPr>
          <p:cNvPr id="3" name="Shape 1"/>
          <p:cNvSpPr/>
          <p:nvPr/>
        </p:nvSpPr>
        <p:spPr>
          <a:xfrm>
            <a:off x="548640" y="1051560"/>
            <a:ext cx="1737360" cy="566928"/>
          </a:xfrm>
          <a:prstGeom prst="roundRect">
            <a:avLst>
              <a:gd name="adj" fmla="val 9677"/>
            </a:avLst>
          </a:prstGeom>
          <a:solidFill>
            <a:srgbClr val="F2F3F5"/>
          </a:solidFill>
          <a:ln w="12700">
            <a:solidFill>
              <a:srgbClr val="F2F3F5"/>
            </a:solidFill>
            <a:prstDash val="solid"/>
          </a:ln>
        </p:spPr>
      </p:sp>
      <p:sp>
        <p:nvSpPr>
          <p:cNvPr id="4" name="Text 2"/>
          <p:cNvSpPr txBox="1"/>
          <p:nvPr/>
        </p:nvSpPr>
        <p:spPr>
          <a:xfrm>
            <a:off x="640080" y="1097280"/>
            <a:ext cx="274320" cy="457200"/>
          </a:xfrm>
          <a:prstGeom prst="rect">
            <a:avLst/>
          </a:prstGeom>
          <a:noFill/>
          <a:ln/>
        </p:spPr>
        <p:txBody>
          <a:bodyPr wrap="square" lIns="0" tIns="0" rIns="0" bIns="0" rtlCol="0" anchor="ctr"/>
          <a:lstStyle/>
          <a:p>
            <a:pPr indent="0" marL="0">
              <a:buNone/>
            </a:pPr>
            <a:r>
              <a:rPr lang="en-US" sz="1500" b="1" dirty="0">
                <a:solidFill>
                  <a:srgbClr val="5B4FCF"/>
                </a:solidFill>
                <a:latin typeface="Cambria" pitchFamily="34" charset="0"/>
                <a:ea typeface="Cambria" pitchFamily="34" charset="-122"/>
                <a:cs typeface="Cambria" pitchFamily="34" charset="-120"/>
              </a:rPr>
              <a:t>1</a:t>
            </a:r>
            <a:endParaRPr lang="en-US" sz="1500" dirty="0"/>
          </a:p>
        </p:txBody>
      </p:sp>
      <p:sp>
        <p:nvSpPr>
          <p:cNvPr id="5" name="Text 3"/>
          <p:cNvSpPr txBox="1"/>
          <p:nvPr/>
        </p:nvSpPr>
        <p:spPr>
          <a:xfrm>
            <a:off x="932688" y="1124712"/>
            <a:ext cx="1298448" cy="24688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Company JD</a:t>
            </a:r>
            <a:endParaRPr lang="en-US" sz="1100" dirty="0"/>
          </a:p>
        </p:txBody>
      </p:sp>
      <p:sp>
        <p:nvSpPr>
          <p:cNvPr id="6" name="Text 4"/>
          <p:cNvSpPr txBox="1"/>
          <p:nvPr/>
        </p:nvSpPr>
        <p:spPr>
          <a:xfrm>
            <a:off x="932688" y="1371600"/>
            <a:ext cx="1298448"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Recruiter input</a:t>
            </a:r>
            <a:endParaRPr lang="en-US" sz="900" dirty="0"/>
          </a:p>
        </p:txBody>
      </p:sp>
      <p:sp>
        <p:nvSpPr>
          <p:cNvPr id="7" name="Text 5"/>
          <p:cNvSpPr txBox="1"/>
          <p:nvPr/>
        </p:nvSpPr>
        <p:spPr>
          <a:xfrm>
            <a:off x="2286000" y="1097280"/>
            <a:ext cx="365760" cy="475488"/>
          </a:xfrm>
          <a:prstGeom prst="rect">
            <a:avLst/>
          </a:prstGeom>
          <a:noFill/>
          <a:ln/>
        </p:spPr>
        <p:txBody>
          <a:bodyPr wrap="square" lIns="0" tIns="0" rIns="0" bIns="0" rtlCol="0" anchor="ctr"/>
          <a:lstStyle/>
          <a:p>
            <a:pPr algn="ctr" indent="0" marL="0">
              <a:buNone/>
            </a:pPr>
            <a:r>
              <a:rPr lang="en-US" sz="2000" b="1" dirty="0">
                <a:solidFill>
                  <a:srgbClr val="9AA5B1"/>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651760" y="1051560"/>
            <a:ext cx="1737360" cy="566928"/>
          </a:xfrm>
          <a:prstGeom prst="roundRect">
            <a:avLst>
              <a:gd name="adj" fmla="val 9677"/>
            </a:avLst>
          </a:prstGeom>
          <a:solidFill>
            <a:srgbClr val="F2F3F5"/>
          </a:solidFill>
          <a:ln w="12700">
            <a:solidFill>
              <a:srgbClr val="F2F3F5"/>
            </a:solidFill>
            <a:prstDash val="solid"/>
          </a:ln>
        </p:spPr>
      </p:sp>
      <p:sp>
        <p:nvSpPr>
          <p:cNvPr id="9" name="Text 7"/>
          <p:cNvSpPr txBox="1"/>
          <p:nvPr/>
        </p:nvSpPr>
        <p:spPr>
          <a:xfrm>
            <a:off x="2743200" y="1097280"/>
            <a:ext cx="274320" cy="457200"/>
          </a:xfrm>
          <a:prstGeom prst="rect">
            <a:avLst/>
          </a:prstGeom>
          <a:noFill/>
          <a:ln/>
        </p:spPr>
        <p:txBody>
          <a:bodyPr wrap="square" lIns="0" tIns="0" rIns="0" bIns="0" rtlCol="0" anchor="ctr"/>
          <a:lstStyle/>
          <a:p>
            <a:pPr indent="0" marL="0">
              <a:buNone/>
            </a:pPr>
            <a:r>
              <a:rPr lang="en-US" sz="1500" b="1" dirty="0">
                <a:solidFill>
                  <a:srgbClr val="5B4FCF"/>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3035808" y="1124712"/>
            <a:ext cx="1298448" cy="24688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Requirements</a:t>
            </a:r>
            <a:endParaRPr lang="en-US" sz="1100" dirty="0"/>
          </a:p>
        </p:txBody>
      </p:sp>
      <p:sp>
        <p:nvSpPr>
          <p:cNvPr id="11" name="Text 9"/>
          <p:cNvSpPr txBox="1"/>
          <p:nvPr/>
        </p:nvSpPr>
        <p:spPr>
          <a:xfrm>
            <a:off x="3035808" y="1371600"/>
            <a:ext cx="1298448"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Company Agent</a:t>
            </a:r>
            <a:endParaRPr lang="en-US" sz="900" dirty="0"/>
          </a:p>
        </p:txBody>
      </p:sp>
      <p:sp>
        <p:nvSpPr>
          <p:cNvPr id="12" name="Text 10"/>
          <p:cNvSpPr txBox="1"/>
          <p:nvPr/>
        </p:nvSpPr>
        <p:spPr>
          <a:xfrm>
            <a:off x="4389120" y="1097280"/>
            <a:ext cx="365760" cy="475488"/>
          </a:xfrm>
          <a:prstGeom prst="rect">
            <a:avLst/>
          </a:prstGeom>
          <a:noFill/>
          <a:ln/>
        </p:spPr>
        <p:txBody>
          <a:bodyPr wrap="square" lIns="0" tIns="0" rIns="0" bIns="0" rtlCol="0" anchor="ctr"/>
          <a:lstStyle/>
          <a:p>
            <a:pPr algn="ctr" indent="0" marL="0">
              <a:buNone/>
            </a:pPr>
            <a:r>
              <a:rPr lang="en-US" sz="2000" b="1" dirty="0">
                <a:solidFill>
                  <a:srgbClr val="9AA5B1"/>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4754880" y="1051560"/>
            <a:ext cx="1737360" cy="566928"/>
          </a:xfrm>
          <a:prstGeom prst="roundRect">
            <a:avLst>
              <a:gd name="adj" fmla="val 9677"/>
            </a:avLst>
          </a:prstGeom>
          <a:solidFill>
            <a:srgbClr val="F2F3F5"/>
          </a:solidFill>
          <a:ln w="12700">
            <a:solidFill>
              <a:srgbClr val="F2F3F5"/>
            </a:solidFill>
            <a:prstDash val="solid"/>
          </a:ln>
        </p:spPr>
      </p:sp>
      <p:sp>
        <p:nvSpPr>
          <p:cNvPr id="14" name="Text 12"/>
          <p:cNvSpPr txBox="1"/>
          <p:nvPr/>
        </p:nvSpPr>
        <p:spPr>
          <a:xfrm>
            <a:off x="4846320" y="1097280"/>
            <a:ext cx="274320" cy="457200"/>
          </a:xfrm>
          <a:prstGeom prst="rect">
            <a:avLst/>
          </a:prstGeom>
          <a:noFill/>
          <a:ln/>
        </p:spPr>
        <p:txBody>
          <a:bodyPr wrap="square" lIns="0" tIns="0" rIns="0" bIns="0" rtlCol="0" anchor="ctr"/>
          <a:lstStyle/>
          <a:p>
            <a:pPr indent="0" marL="0">
              <a:buNone/>
            </a:pPr>
            <a:r>
              <a:rPr lang="en-US" sz="1500" b="1" dirty="0">
                <a:solidFill>
                  <a:srgbClr val="5B4FCF"/>
                </a:solidFill>
                <a:latin typeface="Cambria" pitchFamily="34" charset="0"/>
                <a:ea typeface="Cambria" pitchFamily="34" charset="-122"/>
                <a:cs typeface="Cambria" pitchFamily="34" charset="-120"/>
              </a:rPr>
              <a:t>3</a:t>
            </a:r>
            <a:endParaRPr lang="en-US" sz="1500" dirty="0"/>
          </a:p>
        </p:txBody>
      </p:sp>
      <p:sp>
        <p:nvSpPr>
          <p:cNvPr id="15" name="Text 13"/>
          <p:cNvSpPr txBox="1"/>
          <p:nvPr/>
        </p:nvSpPr>
        <p:spPr>
          <a:xfrm>
            <a:off x="5138928" y="1124712"/>
            <a:ext cx="1298448" cy="24688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Eligibility</a:t>
            </a:r>
            <a:endParaRPr lang="en-US" sz="1100" dirty="0"/>
          </a:p>
        </p:txBody>
      </p:sp>
      <p:sp>
        <p:nvSpPr>
          <p:cNvPr id="16" name="Text 14"/>
          <p:cNvSpPr txBox="1"/>
          <p:nvPr/>
        </p:nvSpPr>
        <p:spPr>
          <a:xfrm>
            <a:off x="5138928" y="1371600"/>
            <a:ext cx="1298448"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Eligibility Agent</a:t>
            </a:r>
            <a:endParaRPr lang="en-US" sz="900" dirty="0"/>
          </a:p>
        </p:txBody>
      </p:sp>
      <p:sp>
        <p:nvSpPr>
          <p:cNvPr id="17" name="Text 15"/>
          <p:cNvSpPr txBox="1"/>
          <p:nvPr/>
        </p:nvSpPr>
        <p:spPr>
          <a:xfrm>
            <a:off x="6492240" y="1097280"/>
            <a:ext cx="365760" cy="475488"/>
          </a:xfrm>
          <a:prstGeom prst="rect">
            <a:avLst/>
          </a:prstGeom>
          <a:noFill/>
          <a:ln/>
        </p:spPr>
        <p:txBody>
          <a:bodyPr wrap="square" lIns="0" tIns="0" rIns="0" bIns="0" rtlCol="0" anchor="ctr"/>
          <a:lstStyle/>
          <a:p>
            <a:pPr algn="ctr" indent="0" marL="0">
              <a:buNone/>
            </a:pPr>
            <a:r>
              <a:rPr lang="en-US" sz="2000" b="1" dirty="0">
                <a:solidFill>
                  <a:srgbClr val="9AA5B1"/>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6858000" y="1051560"/>
            <a:ext cx="1737360" cy="566928"/>
          </a:xfrm>
          <a:prstGeom prst="roundRect">
            <a:avLst>
              <a:gd name="adj" fmla="val 9677"/>
            </a:avLst>
          </a:prstGeom>
          <a:solidFill>
            <a:srgbClr val="F2F3F5"/>
          </a:solidFill>
          <a:ln w="12700">
            <a:solidFill>
              <a:srgbClr val="F2F3F5"/>
            </a:solidFill>
            <a:prstDash val="solid"/>
          </a:ln>
        </p:spPr>
      </p:sp>
      <p:sp>
        <p:nvSpPr>
          <p:cNvPr id="19" name="Text 17"/>
          <p:cNvSpPr txBox="1"/>
          <p:nvPr/>
        </p:nvSpPr>
        <p:spPr>
          <a:xfrm>
            <a:off x="6949440" y="1097280"/>
            <a:ext cx="274320" cy="457200"/>
          </a:xfrm>
          <a:prstGeom prst="rect">
            <a:avLst/>
          </a:prstGeom>
          <a:noFill/>
          <a:ln/>
        </p:spPr>
        <p:txBody>
          <a:bodyPr wrap="square" lIns="0" tIns="0" rIns="0" bIns="0" rtlCol="0" anchor="ctr"/>
          <a:lstStyle/>
          <a:p>
            <a:pPr indent="0" marL="0">
              <a:buNone/>
            </a:pPr>
            <a:r>
              <a:rPr lang="en-US" sz="1500" b="1" dirty="0">
                <a:solidFill>
                  <a:srgbClr val="5B4FCF"/>
                </a:solidFill>
                <a:latin typeface="Cambria" pitchFamily="34" charset="0"/>
                <a:ea typeface="Cambria" pitchFamily="34" charset="-122"/>
                <a:cs typeface="Cambria" pitchFamily="34" charset="-120"/>
              </a:rPr>
              <a:t>4</a:t>
            </a:r>
            <a:endParaRPr lang="en-US" sz="1500" dirty="0"/>
          </a:p>
        </p:txBody>
      </p:sp>
      <p:sp>
        <p:nvSpPr>
          <p:cNvPr id="20" name="Text 18"/>
          <p:cNvSpPr txBox="1"/>
          <p:nvPr/>
        </p:nvSpPr>
        <p:spPr>
          <a:xfrm>
            <a:off x="7242048" y="1124712"/>
            <a:ext cx="1298448" cy="24688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Verification</a:t>
            </a:r>
            <a:endParaRPr lang="en-US" sz="1100" dirty="0"/>
          </a:p>
        </p:txBody>
      </p:sp>
      <p:sp>
        <p:nvSpPr>
          <p:cNvPr id="21" name="Text 19"/>
          <p:cNvSpPr txBox="1"/>
          <p:nvPr/>
        </p:nvSpPr>
        <p:spPr>
          <a:xfrm>
            <a:off x="7242048" y="1371600"/>
            <a:ext cx="1298448"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Verification Agent</a:t>
            </a:r>
            <a:endParaRPr lang="en-US" sz="900" dirty="0"/>
          </a:p>
        </p:txBody>
      </p:sp>
      <p:sp>
        <p:nvSpPr>
          <p:cNvPr id="22" name="Shape 20"/>
          <p:cNvSpPr/>
          <p:nvPr/>
        </p:nvSpPr>
        <p:spPr>
          <a:xfrm>
            <a:off x="548640" y="1783080"/>
            <a:ext cx="1737360" cy="566928"/>
          </a:xfrm>
          <a:prstGeom prst="roundRect">
            <a:avLst>
              <a:gd name="adj" fmla="val 9677"/>
            </a:avLst>
          </a:prstGeom>
          <a:solidFill>
            <a:srgbClr val="F2F3F5"/>
          </a:solidFill>
          <a:ln w="12700">
            <a:solidFill>
              <a:srgbClr val="F2F3F5"/>
            </a:solidFill>
            <a:prstDash val="solid"/>
          </a:ln>
        </p:spPr>
      </p:sp>
      <p:sp>
        <p:nvSpPr>
          <p:cNvPr id="23" name="Text 21"/>
          <p:cNvSpPr txBox="1"/>
          <p:nvPr/>
        </p:nvSpPr>
        <p:spPr>
          <a:xfrm>
            <a:off x="640080" y="1828800"/>
            <a:ext cx="274320" cy="457200"/>
          </a:xfrm>
          <a:prstGeom prst="rect">
            <a:avLst/>
          </a:prstGeom>
          <a:noFill/>
          <a:ln/>
        </p:spPr>
        <p:txBody>
          <a:bodyPr wrap="square" lIns="0" tIns="0" rIns="0" bIns="0" rtlCol="0" anchor="ctr"/>
          <a:lstStyle/>
          <a:p>
            <a:pPr indent="0" marL="0">
              <a:buNone/>
            </a:pPr>
            <a:r>
              <a:rPr lang="en-US" sz="1500" b="1" dirty="0">
                <a:solidFill>
                  <a:srgbClr val="5B4FCF"/>
                </a:solidFill>
                <a:latin typeface="Cambria" pitchFamily="34" charset="0"/>
                <a:ea typeface="Cambria" pitchFamily="34" charset="-122"/>
                <a:cs typeface="Cambria" pitchFamily="34" charset="-120"/>
              </a:rPr>
              <a:t>5</a:t>
            </a:r>
            <a:endParaRPr lang="en-US" sz="1500" dirty="0"/>
          </a:p>
        </p:txBody>
      </p:sp>
      <p:sp>
        <p:nvSpPr>
          <p:cNvPr id="24" name="Text 22"/>
          <p:cNvSpPr txBox="1"/>
          <p:nvPr/>
        </p:nvSpPr>
        <p:spPr>
          <a:xfrm>
            <a:off x="932688" y="1856232"/>
            <a:ext cx="1298448" cy="24688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Application</a:t>
            </a:r>
            <a:endParaRPr lang="en-US" sz="1100" dirty="0"/>
          </a:p>
        </p:txBody>
      </p:sp>
      <p:sp>
        <p:nvSpPr>
          <p:cNvPr id="25" name="Text 23"/>
          <p:cNvSpPr txBox="1"/>
          <p:nvPr/>
        </p:nvSpPr>
        <p:spPr>
          <a:xfrm>
            <a:off x="932688" y="2103120"/>
            <a:ext cx="1298448"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Application Agent</a:t>
            </a:r>
            <a:endParaRPr lang="en-US" sz="900" dirty="0"/>
          </a:p>
        </p:txBody>
      </p:sp>
      <p:sp>
        <p:nvSpPr>
          <p:cNvPr id="26" name="Text 24"/>
          <p:cNvSpPr txBox="1"/>
          <p:nvPr/>
        </p:nvSpPr>
        <p:spPr>
          <a:xfrm>
            <a:off x="2286000" y="1828800"/>
            <a:ext cx="365760" cy="475488"/>
          </a:xfrm>
          <a:prstGeom prst="rect">
            <a:avLst/>
          </a:prstGeom>
          <a:noFill/>
          <a:ln/>
        </p:spPr>
        <p:txBody>
          <a:bodyPr wrap="square" lIns="0" tIns="0" rIns="0" bIns="0" rtlCol="0" anchor="ctr"/>
          <a:lstStyle/>
          <a:p>
            <a:pPr algn="ctr" indent="0" marL="0">
              <a:buNone/>
            </a:pPr>
            <a:r>
              <a:rPr lang="en-US" sz="2000" b="1" dirty="0">
                <a:solidFill>
                  <a:srgbClr val="9AA5B1"/>
                </a:solidFill>
                <a:latin typeface="Calibri" pitchFamily="34" charset="0"/>
                <a:ea typeface="Calibri" pitchFamily="34" charset="-122"/>
                <a:cs typeface="Calibri" pitchFamily="34" charset="-120"/>
              </a:rPr>
              <a:t>›</a:t>
            </a:r>
            <a:endParaRPr lang="en-US" sz="2000" dirty="0"/>
          </a:p>
        </p:txBody>
      </p:sp>
      <p:sp>
        <p:nvSpPr>
          <p:cNvPr id="27" name="Shape 25"/>
          <p:cNvSpPr/>
          <p:nvPr/>
        </p:nvSpPr>
        <p:spPr>
          <a:xfrm>
            <a:off x="2651760" y="1783080"/>
            <a:ext cx="1737360" cy="566928"/>
          </a:xfrm>
          <a:prstGeom prst="roundRect">
            <a:avLst>
              <a:gd name="adj" fmla="val 9677"/>
            </a:avLst>
          </a:prstGeom>
          <a:solidFill>
            <a:srgbClr val="F2F3F5"/>
          </a:solidFill>
          <a:ln w="12700">
            <a:solidFill>
              <a:srgbClr val="F2F3F5"/>
            </a:solidFill>
            <a:prstDash val="solid"/>
          </a:ln>
        </p:spPr>
      </p:sp>
      <p:sp>
        <p:nvSpPr>
          <p:cNvPr id="28" name="Text 26"/>
          <p:cNvSpPr txBox="1"/>
          <p:nvPr/>
        </p:nvSpPr>
        <p:spPr>
          <a:xfrm>
            <a:off x="2743200" y="1828800"/>
            <a:ext cx="274320" cy="457200"/>
          </a:xfrm>
          <a:prstGeom prst="rect">
            <a:avLst/>
          </a:prstGeom>
          <a:noFill/>
          <a:ln/>
        </p:spPr>
        <p:txBody>
          <a:bodyPr wrap="square" lIns="0" tIns="0" rIns="0" bIns="0" rtlCol="0" anchor="ctr"/>
          <a:lstStyle/>
          <a:p>
            <a:pPr indent="0" marL="0">
              <a:buNone/>
            </a:pPr>
            <a:r>
              <a:rPr lang="en-US" sz="1500" b="1" dirty="0">
                <a:solidFill>
                  <a:srgbClr val="5B4FCF"/>
                </a:solidFill>
                <a:latin typeface="Cambria" pitchFamily="34" charset="0"/>
                <a:ea typeface="Cambria" pitchFamily="34" charset="-122"/>
                <a:cs typeface="Cambria" pitchFamily="34" charset="-120"/>
              </a:rPr>
              <a:t>6</a:t>
            </a:r>
            <a:endParaRPr lang="en-US" sz="1500" dirty="0"/>
          </a:p>
        </p:txBody>
      </p:sp>
      <p:sp>
        <p:nvSpPr>
          <p:cNvPr id="29" name="Text 27"/>
          <p:cNvSpPr txBox="1"/>
          <p:nvPr/>
        </p:nvSpPr>
        <p:spPr>
          <a:xfrm>
            <a:off x="3035808" y="1856232"/>
            <a:ext cx="1298448" cy="24688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Communication</a:t>
            </a:r>
            <a:endParaRPr lang="en-US" sz="1100" dirty="0"/>
          </a:p>
        </p:txBody>
      </p:sp>
      <p:sp>
        <p:nvSpPr>
          <p:cNvPr id="30" name="Text 28"/>
          <p:cNvSpPr txBox="1"/>
          <p:nvPr/>
        </p:nvSpPr>
        <p:spPr>
          <a:xfrm>
            <a:off x="3035808" y="2103120"/>
            <a:ext cx="1298448"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Communication Agent</a:t>
            </a:r>
            <a:endParaRPr lang="en-US" sz="900" dirty="0"/>
          </a:p>
        </p:txBody>
      </p:sp>
      <p:sp>
        <p:nvSpPr>
          <p:cNvPr id="31" name="Text 29"/>
          <p:cNvSpPr txBox="1"/>
          <p:nvPr/>
        </p:nvSpPr>
        <p:spPr>
          <a:xfrm>
            <a:off x="4389120" y="1828800"/>
            <a:ext cx="365760" cy="475488"/>
          </a:xfrm>
          <a:prstGeom prst="rect">
            <a:avLst/>
          </a:prstGeom>
          <a:noFill/>
          <a:ln/>
        </p:spPr>
        <p:txBody>
          <a:bodyPr wrap="square" lIns="0" tIns="0" rIns="0" bIns="0" rtlCol="0" anchor="ctr"/>
          <a:lstStyle/>
          <a:p>
            <a:pPr algn="ctr" indent="0" marL="0">
              <a:buNone/>
            </a:pPr>
            <a:r>
              <a:rPr lang="en-US" sz="2000" b="1" dirty="0">
                <a:solidFill>
                  <a:srgbClr val="9AA5B1"/>
                </a:solidFill>
                <a:latin typeface="Calibri" pitchFamily="34" charset="0"/>
                <a:ea typeface="Calibri" pitchFamily="34" charset="-122"/>
                <a:cs typeface="Calibri" pitchFamily="34" charset="-120"/>
              </a:rPr>
              <a:t>›</a:t>
            </a:r>
            <a:endParaRPr lang="en-US" sz="2000" dirty="0"/>
          </a:p>
        </p:txBody>
      </p:sp>
      <p:sp>
        <p:nvSpPr>
          <p:cNvPr id="32" name="Shape 30"/>
          <p:cNvSpPr/>
          <p:nvPr/>
        </p:nvSpPr>
        <p:spPr>
          <a:xfrm>
            <a:off x="4754880" y="1783080"/>
            <a:ext cx="1737360" cy="566928"/>
          </a:xfrm>
          <a:prstGeom prst="roundRect">
            <a:avLst>
              <a:gd name="adj" fmla="val 9677"/>
            </a:avLst>
          </a:prstGeom>
          <a:solidFill>
            <a:srgbClr val="F2F3F5"/>
          </a:solidFill>
          <a:ln w="12700">
            <a:solidFill>
              <a:srgbClr val="F2F3F5"/>
            </a:solidFill>
            <a:prstDash val="solid"/>
          </a:ln>
        </p:spPr>
      </p:sp>
      <p:sp>
        <p:nvSpPr>
          <p:cNvPr id="33" name="Text 31"/>
          <p:cNvSpPr txBox="1"/>
          <p:nvPr/>
        </p:nvSpPr>
        <p:spPr>
          <a:xfrm>
            <a:off x="4846320" y="1828800"/>
            <a:ext cx="274320" cy="457200"/>
          </a:xfrm>
          <a:prstGeom prst="rect">
            <a:avLst/>
          </a:prstGeom>
          <a:noFill/>
          <a:ln/>
        </p:spPr>
        <p:txBody>
          <a:bodyPr wrap="square" lIns="0" tIns="0" rIns="0" bIns="0" rtlCol="0" anchor="ctr"/>
          <a:lstStyle/>
          <a:p>
            <a:pPr indent="0" marL="0">
              <a:buNone/>
            </a:pPr>
            <a:r>
              <a:rPr lang="en-US" sz="1500" b="1" dirty="0">
                <a:solidFill>
                  <a:srgbClr val="5B4FCF"/>
                </a:solidFill>
                <a:latin typeface="Cambria" pitchFamily="34" charset="0"/>
                <a:ea typeface="Cambria" pitchFamily="34" charset="-122"/>
                <a:cs typeface="Cambria" pitchFamily="34" charset="-120"/>
              </a:rPr>
              <a:t>7</a:t>
            </a:r>
            <a:endParaRPr lang="en-US" sz="1500" dirty="0"/>
          </a:p>
        </p:txBody>
      </p:sp>
      <p:sp>
        <p:nvSpPr>
          <p:cNvPr id="34" name="Text 32"/>
          <p:cNvSpPr txBox="1"/>
          <p:nvPr/>
        </p:nvSpPr>
        <p:spPr>
          <a:xfrm>
            <a:off x="5138928" y="1856232"/>
            <a:ext cx="1298448" cy="24688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Assessment</a:t>
            </a:r>
            <a:endParaRPr lang="en-US" sz="1100" dirty="0"/>
          </a:p>
        </p:txBody>
      </p:sp>
      <p:sp>
        <p:nvSpPr>
          <p:cNvPr id="35" name="Text 33"/>
          <p:cNvSpPr txBox="1"/>
          <p:nvPr/>
        </p:nvSpPr>
        <p:spPr>
          <a:xfrm>
            <a:off x="5138928" y="2103120"/>
            <a:ext cx="1298448"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Assessment Agent</a:t>
            </a:r>
            <a:endParaRPr lang="en-US" sz="900" dirty="0"/>
          </a:p>
        </p:txBody>
      </p:sp>
      <p:sp>
        <p:nvSpPr>
          <p:cNvPr id="36" name="Text 34"/>
          <p:cNvSpPr txBox="1"/>
          <p:nvPr/>
        </p:nvSpPr>
        <p:spPr>
          <a:xfrm>
            <a:off x="6492240" y="1828800"/>
            <a:ext cx="365760" cy="475488"/>
          </a:xfrm>
          <a:prstGeom prst="rect">
            <a:avLst/>
          </a:prstGeom>
          <a:noFill/>
          <a:ln/>
        </p:spPr>
        <p:txBody>
          <a:bodyPr wrap="square" lIns="0" tIns="0" rIns="0" bIns="0" rtlCol="0" anchor="ctr"/>
          <a:lstStyle/>
          <a:p>
            <a:pPr algn="ctr" indent="0" marL="0">
              <a:buNone/>
            </a:pPr>
            <a:r>
              <a:rPr lang="en-US" sz="2000" b="1" dirty="0">
                <a:solidFill>
                  <a:srgbClr val="9AA5B1"/>
                </a:solidFill>
                <a:latin typeface="Calibri" pitchFamily="34" charset="0"/>
                <a:ea typeface="Calibri" pitchFamily="34" charset="-122"/>
                <a:cs typeface="Calibri" pitchFamily="34" charset="-120"/>
              </a:rPr>
              <a:t>›</a:t>
            </a:r>
            <a:endParaRPr lang="en-US" sz="2000" dirty="0"/>
          </a:p>
        </p:txBody>
      </p:sp>
      <p:sp>
        <p:nvSpPr>
          <p:cNvPr id="37" name="Shape 35"/>
          <p:cNvSpPr/>
          <p:nvPr/>
        </p:nvSpPr>
        <p:spPr>
          <a:xfrm>
            <a:off x="6858000" y="1783080"/>
            <a:ext cx="1737360" cy="566928"/>
          </a:xfrm>
          <a:prstGeom prst="roundRect">
            <a:avLst>
              <a:gd name="adj" fmla="val 9677"/>
            </a:avLst>
          </a:prstGeom>
          <a:solidFill>
            <a:srgbClr val="F2F3F5"/>
          </a:solidFill>
          <a:ln w="12700">
            <a:solidFill>
              <a:srgbClr val="F2F3F5"/>
            </a:solidFill>
            <a:prstDash val="solid"/>
          </a:ln>
        </p:spPr>
      </p:sp>
      <p:sp>
        <p:nvSpPr>
          <p:cNvPr id="38" name="Text 36"/>
          <p:cNvSpPr txBox="1"/>
          <p:nvPr/>
        </p:nvSpPr>
        <p:spPr>
          <a:xfrm>
            <a:off x="6949440" y="1828800"/>
            <a:ext cx="274320" cy="457200"/>
          </a:xfrm>
          <a:prstGeom prst="rect">
            <a:avLst/>
          </a:prstGeom>
          <a:noFill/>
          <a:ln/>
        </p:spPr>
        <p:txBody>
          <a:bodyPr wrap="square" lIns="0" tIns="0" rIns="0" bIns="0" rtlCol="0" anchor="ctr"/>
          <a:lstStyle/>
          <a:p>
            <a:pPr indent="0" marL="0">
              <a:buNone/>
            </a:pPr>
            <a:r>
              <a:rPr lang="en-US" sz="1500" b="1" dirty="0">
                <a:solidFill>
                  <a:srgbClr val="5B4FCF"/>
                </a:solidFill>
                <a:latin typeface="Cambria" pitchFamily="34" charset="0"/>
                <a:ea typeface="Cambria" pitchFamily="34" charset="-122"/>
                <a:cs typeface="Cambria" pitchFamily="34" charset="-120"/>
              </a:rPr>
              <a:t>8</a:t>
            </a:r>
            <a:endParaRPr lang="en-US" sz="1500" dirty="0"/>
          </a:p>
        </p:txBody>
      </p:sp>
      <p:sp>
        <p:nvSpPr>
          <p:cNvPr id="39" name="Text 37"/>
          <p:cNvSpPr txBox="1"/>
          <p:nvPr/>
        </p:nvSpPr>
        <p:spPr>
          <a:xfrm>
            <a:off x="7242048" y="1856232"/>
            <a:ext cx="1298448" cy="24688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Shortlisting</a:t>
            </a:r>
            <a:endParaRPr lang="en-US" sz="1100" dirty="0"/>
          </a:p>
        </p:txBody>
      </p:sp>
      <p:sp>
        <p:nvSpPr>
          <p:cNvPr id="40" name="Text 38"/>
          <p:cNvSpPr txBox="1"/>
          <p:nvPr/>
        </p:nvSpPr>
        <p:spPr>
          <a:xfrm>
            <a:off x="7242048" y="2103120"/>
            <a:ext cx="1298448"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Shortlisting Agent</a:t>
            </a:r>
            <a:endParaRPr lang="en-US" sz="900" dirty="0"/>
          </a:p>
        </p:txBody>
      </p:sp>
      <p:sp>
        <p:nvSpPr>
          <p:cNvPr id="41" name="Shape 39"/>
          <p:cNvSpPr/>
          <p:nvPr/>
        </p:nvSpPr>
        <p:spPr>
          <a:xfrm>
            <a:off x="548640" y="2514600"/>
            <a:ext cx="1737360" cy="566928"/>
          </a:xfrm>
          <a:prstGeom prst="roundRect">
            <a:avLst>
              <a:gd name="adj" fmla="val 9677"/>
            </a:avLst>
          </a:prstGeom>
          <a:solidFill>
            <a:srgbClr val="F2F3F5"/>
          </a:solidFill>
          <a:ln w="12700">
            <a:solidFill>
              <a:srgbClr val="F2F3F5"/>
            </a:solidFill>
            <a:prstDash val="solid"/>
          </a:ln>
        </p:spPr>
      </p:sp>
      <p:sp>
        <p:nvSpPr>
          <p:cNvPr id="42" name="Text 40"/>
          <p:cNvSpPr txBox="1"/>
          <p:nvPr/>
        </p:nvSpPr>
        <p:spPr>
          <a:xfrm>
            <a:off x="640080" y="2560320"/>
            <a:ext cx="274320" cy="457200"/>
          </a:xfrm>
          <a:prstGeom prst="rect">
            <a:avLst/>
          </a:prstGeom>
          <a:noFill/>
          <a:ln/>
        </p:spPr>
        <p:txBody>
          <a:bodyPr wrap="square" lIns="0" tIns="0" rIns="0" bIns="0" rtlCol="0" anchor="ctr"/>
          <a:lstStyle/>
          <a:p>
            <a:pPr indent="0" marL="0">
              <a:buNone/>
            </a:pPr>
            <a:r>
              <a:rPr lang="en-US" sz="1500" b="1" dirty="0">
                <a:solidFill>
                  <a:srgbClr val="5B4FCF"/>
                </a:solidFill>
                <a:latin typeface="Cambria" pitchFamily="34" charset="0"/>
                <a:ea typeface="Cambria" pitchFamily="34" charset="-122"/>
                <a:cs typeface="Cambria" pitchFamily="34" charset="-120"/>
              </a:rPr>
              <a:t>9</a:t>
            </a:r>
            <a:endParaRPr lang="en-US" sz="1500" dirty="0"/>
          </a:p>
        </p:txBody>
      </p:sp>
      <p:sp>
        <p:nvSpPr>
          <p:cNvPr id="43" name="Text 41"/>
          <p:cNvSpPr txBox="1"/>
          <p:nvPr/>
        </p:nvSpPr>
        <p:spPr>
          <a:xfrm>
            <a:off x="932688" y="2587752"/>
            <a:ext cx="1298448" cy="24688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Scheduling</a:t>
            </a:r>
            <a:endParaRPr lang="en-US" sz="1100" dirty="0"/>
          </a:p>
        </p:txBody>
      </p:sp>
      <p:sp>
        <p:nvSpPr>
          <p:cNvPr id="44" name="Text 42"/>
          <p:cNvSpPr txBox="1"/>
          <p:nvPr/>
        </p:nvSpPr>
        <p:spPr>
          <a:xfrm>
            <a:off x="932688" y="2834640"/>
            <a:ext cx="1298448"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Scheduling Agent</a:t>
            </a:r>
            <a:endParaRPr lang="en-US" sz="900" dirty="0"/>
          </a:p>
        </p:txBody>
      </p:sp>
      <p:sp>
        <p:nvSpPr>
          <p:cNvPr id="45" name="Text 43"/>
          <p:cNvSpPr txBox="1"/>
          <p:nvPr/>
        </p:nvSpPr>
        <p:spPr>
          <a:xfrm>
            <a:off x="2286000" y="2560320"/>
            <a:ext cx="365760" cy="475488"/>
          </a:xfrm>
          <a:prstGeom prst="rect">
            <a:avLst/>
          </a:prstGeom>
          <a:noFill/>
          <a:ln/>
        </p:spPr>
        <p:txBody>
          <a:bodyPr wrap="square" lIns="0" tIns="0" rIns="0" bIns="0" rtlCol="0" anchor="ctr"/>
          <a:lstStyle/>
          <a:p>
            <a:pPr algn="ctr" indent="0" marL="0">
              <a:buNone/>
            </a:pPr>
            <a:r>
              <a:rPr lang="en-US" sz="2000" b="1" dirty="0">
                <a:solidFill>
                  <a:srgbClr val="9AA5B1"/>
                </a:solidFill>
                <a:latin typeface="Calibri" pitchFamily="34" charset="0"/>
                <a:ea typeface="Calibri" pitchFamily="34" charset="-122"/>
                <a:cs typeface="Calibri" pitchFamily="34" charset="-120"/>
              </a:rPr>
              <a:t>›</a:t>
            </a:r>
            <a:endParaRPr lang="en-US" sz="2000" dirty="0"/>
          </a:p>
        </p:txBody>
      </p:sp>
      <p:sp>
        <p:nvSpPr>
          <p:cNvPr id="46" name="Shape 44"/>
          <p:cNvSpPr/>
          <p:nvPr/>
        </p:nvSpPr>
        <p:spPr>
          <a:xfrm>
            <a:off x="2651760" y="2514600"/>
            <a:ext cx="1737360" cy="566928"/>
          </a:xfrm>
          <a:prstGeom prst="roundRect">
            <a:avLst>
              <a:gd name="adj" fmla="val 9677"/>
            </a:avLst>
          </a:prstGeom>
          <a:solidFill>
            <a:srgbClr val="F2F3F5"/>
          </a:solidFill>
          <a:ln w="12700">
            <a:solidFill>
              <a:srgbClr val="F2F3F5"/>
            </a:solidFill>
            <a:prstDash val="solid"/>
          </a:ln>
        </p:spPr>
      </p:sp>
      <p:sp>
        <p:nvSpPr>
          <p:cNvPr id="47" name="Text 45"/>
          <p:cNvSpPr txBox="1"/>
          <p:nvPr/>
        </p:nvSpPr>
        <p:spPr>
          <a:xfrm>
            <a:off x="2743200" y="2560320"/>
            <a:ext cx="274320" cy="457200"/>
          </a:xfrm>
          <a:prstGeom prst="rect">
            <a:avLst/>
          </a:prstGeom>
          <a:noFill/>
          <a:ln/>
        </p:spPr>
        <p:txBody>
          <a:bodyPr wrap="square" lIns="0" tIns="0" rIns="0" bIns="0" rtlCol="0" anchor="ctr"/>
          <a:lstStyle/>
          <a:p>
            <a:pPr indent="0" marL="0">
              <a:buNone/>
            </a:pPr>
            <a:r>
              <a:rPr lang="en-US" sz="1500" b="1" dirty="0">
                <a:solidFill>
                  <a:srgbClr val="5B4FCF"/>
                </a:solidFill>
                <a:latin typeface="Cambria" pitchFamily="34" charset="0"/>
                <a:ea typeface="Cambria" pitchFamily="34" charset="-122"/>
                <a:cs typeface="Cambria" pitchFamily="34" charset="-120"/>
              </a:rPr>
              <a:t>10</a:t>
            </a:r>
            <a:endParaRPr lang="en-US" sz="1500" dirty="0"/>
          </a:p>
        </p:txBody>
      </p:sp>
      <p:sp>
        <p:nvSpPr>
          <p:cNvPr id="48" name="Text 46"/>
          <p:cNvSpPr txBox="1"/>
          <p:nvPr/>
        </p:nvSpPr>
        <p:spPr>
          <a:xfrm>
            <a:off x="3035808" y="2587752"/>
            <a:ext cx="1298448" cy="24688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Conflict Check</a:t>
            </a:r>
            <a:endParaRPr lang="en-US" sz="1100" dirty="0"/>
          </a:p>
        </p:txBody>
      </p:sp>
      <p:sp>
        <p:nvSpPr>
          <p:cNvPr id="49" name="Text 47"/>
          <p:cNvSpPr txBox="1"/>
          <p:nvPr/>
        </p:nvSpPr>
        <p:spPr>
          <a:xfrm>
            <a:off x="3035808" y="2834640"/>
            <a:ext cx="1298448"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Conflict Checker</a:t>
            </a:r>
            <a:endParaRPr lang="en-US" sz="900" dirty="0"/>
          </a:p>
        </p:txBody>
      </p:sp>
      <p:sp>
        <p:nvSpPr>
          <p:cNvPr id="50" name="Text 48"/>
          <p:cNvSpPr txBox="1"/>
          <p:nvPr/>
        </p:nvSpPr>
        <p:spPr>
          <a:xfrm>
            <a:off x="4389120" y="2560320"/>
            <a:ext cx="365760" cy="475488"/>
          </a:xfrm>
          <a:prstGeom prst="rect">
            <a:avLst/>
          </a:prstGeom>
          <a:noFill/>
          <a:ln/>
        </p:spPr>
        <p:txBody>
          <a:bodyPr wrap="square" lIns="0" tIns="0" rIns="0" bIns="0" rtlCol="0" anchor="ctr"/>
          <a:lstStyle/>
          <a:p>
            <a:pPr algn="ctr" indent="0" marL="0">
              <a:buNone/>
            </a:pPr>
            <a:r>
              <a:rPr lang="en-US" sz="2000" b="1" dirty="0">
                <a:solidFill>
                  <a:srgbClr val="9AA5B1"/>
                </a:solidFill>
                <a:latin typeface="Calibri" pitchFamily="34" charset="0"/>
                <a:ea typeface="Calibri" pitchFamily="34" charset="-122"/>
                <a:cs typeface="Calibri" pitchFamily="34" charset="-120"/>
              </a:rPr>
              <a:t>›</a:t>
            </a:r>
            <a:endParaRPr lang="en-US" sz="2000" dirty="0"/>
          </a:p>
        </p:txBody>
      </p:sp>
      <p:sp>
        <p:nvSpPr>
          <p:cNvPr id="51" name="Shape 49"/>
          <p:cNvSpPr/>
          <p:nvPr/>
        </p:nvSpPr>
        <p:spPr>
          <a:xfrm>
            <a:off x="4754880" y="2514600"/>
            <a:ext cx="1737360" cy="566928"/>
          </a:xfrm>
          <a:prstGeom prst="roundRect">
            <a:avLst>
              <a:gd name="adj" fmla="val 9677"/>
            </a:avLst>
          </a:prstGeom>
          <a:solidFill>
            <a:srgbClr val="F2F3F5"/>
          </a:solidFill>
          <a:ln w="12700">
            <a:solidFill>
              <a:srgbClr val="F2F3F5"/>
            </a:solidFill>
            <a:prstDash val="solid"/>
          </a:ln>
        </p:spPr>
      </p:sp>
      <p:sp>
        <p:nvSpPr>
          <p:cNvPr id="52" name="Text 50"/>
          <p:cNvSpPr txBox="1"/>
          <p:nvPr/>
        </p:nvSpPr>
        <p:spPr>
          <a:xfrm>
            <a:off x="4846320" y="2560320"/>
            <a:ext cx="274320" cy="457200"/>
          </a:xfrm>
          <a:prstGeom prst="rect">
            <a:avLst/>
          </a:prstGeom>
          <a:noFill/>
          <a:ln/>
        </p:spPr>
        <p:txBody>
          <a:bodyPr wrap="square" lIns="0" tIns="0" rIns="0" bIns="0" rtlCol="0" anchor="ctr"/>
          <a:lstStyle/>
          <a:p>
            <a:pPr indent="0" marL="0">
              <a:buNone/>
            </a:pPr>
            <a:r>
              <a:rPr lang="en-US" sz="1500" b="1" dirty="0">
                <a:solidFill>
                  <a:srgbClr val="5B4FCF"/>
                </a:solidFill>
                <a:latin typeface="Cambria" pitchFamily="34" charset="0"/>
                <a:ea typeface="Cambria" pitchFamily="34" charset="-122"/>
                <a:cs typeface="Cambria" pitchFamily="34" charset="-120"/>
              </a:rPr>
              <a:t>11</a:t>
            </a:r>
            <a:endParaRPr lang="en-US" sz="1500" dirty="0"/>
          </a:p>
        </p:txBody>
      </p:sp>
      <p:sp>
        <p:nvSpPr>
          <p:cNvPr id="53" name="Text 51"/>
          <p:cNvSpPr txBox="1"/>
          <p:nvPr/>
        </p:nvSpPr>
        <p:spPr>
          <a:xfrm>
            <a:off x="5138928" y="2587752"/>
            <a:ext cx="1298448" cy="24688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Reflection</a:t>
            </a:r>
            <a:endParaRPr lang="en-US" sz="1100" dirty="0"/>
          </a:p>
        </p:txBody>
      </p:sp>
      <p:sp>
        <p:nvSpPr>
          <p:cNvPr id="54" name="Text 52"/>
          <p:cNvSpPr txBox="1"/>
          <p:nvPr/>
        </p:nvSpPr>
        <p:spPr>
          <a:xfrm>
            <a:off x="5138928" y="2834640"/>
            <a:ext cx="1298448"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Critic Agent</a:t>
            </a:r>
            <a:endParaRPr lang="en-US" sz="900" dirty="0"/>
          </a:p>
        </p:txBody>
      </p:sp>
      <p:sp>
        <p:nvSpPr>
          <p:cNvPr id="55" name="Text 53"/>
          <p:cNvSpPr txBox="1"/>
          <p:nvPr/>
        </p:nvSpPr>
        <p:spPr>
          <a:xfrm>
            <a:off x="6492240" y="2560320"/>
            <a:ext cx="365760" cy="475488"/>
          </a:xfrm>
          <a:prstGeom prst="rect">
            <a:avLst/>
          </a:prstGeom>
          <a:noFill/>
          <a:ln/>
        </p:spPr>
        <p:txBody>
          <a:bodyPr wrap="square" lIns="0" tIns="0" rIns="0" bIns="0" rtlCol="0" anchor="ctr"/>
          <a:lstStyle/>
          <a:p>
            <a:pPr algn="ctr" indent="0" marL="0">
              <a:buNone/>
            </a:pPr>
            <a:r>
              <a:rPr lang="en-US" sz="2000" b="1" dirty="0">
                <a:solidFill>
                  <a:srgbClr val="9AA5B1"/>
                </a:solidFill>
                <a:latin typeface="Calibri" pitchFamily="34" charset="0"/>
                <a:ea typeface="Calibri" pitchFamily="34" charset="-122"/>
                <a:cs typeface="Calibri" pitchFamily="34" charset="-120"/>
              </a:rPr>
              <a:t>›</a:t>
            </a:r>
            <a:endParaRPr lang="en-US" sz="2000" dirty="0"/>
          </a:p>
        </p:txBody>
      </p:sp>
      <p:sp>
        <p:nvSpPr>
          <p:cNvPr id="56" name="Shape 54"/>
          <p:cNvSpPr/>
          <p:nvPr/>
        </p:nvSpPr>
        <p:spPr>
          <a:xfrm>
            <a:off x="6858000" y="2514600"/>
            <a:ext cx="1737360" cy="566928"/>
          </a:xfrm>
          <a:prstGeom prst="roundRect">
            <a:avLst>
              <a:gd name="adj" fmla="val 9677"/>
            </a:avLst>
          </a:prstGeom>
          <a:solidFill>
            <a:srgbClr val="3A4756"/>
          </a:solidFill>
          <a:ln w="12700">
            <a:solidFill>
              <a:srgbClr val="3A4756"/>
            </a:solidFill>
            <a:prstDash val="solid"/>
          </a:ln>
        </p:spPr>
      </p:sp>
      <p:sp>
        <p:nvSpPr>
          <p:cNvPr id="57" name="Text 55"/>
          <p:cNvSpPr txBox="1"/>
          <p:nvPr/>
        </p:nvSpPr>
        <p:spPr>
          <a:xfrm>
            <a:off x="6949440" y="2560320"/>
            <a:ext cx="274320" cy="457200"/>
          </a:xfrm>
          <a:prstGeom prst="rect">
            <a:avLst/>
          </a:prstGeom>
          <a:noFill/>
          <a:ln/>
        </p:spPr>
        <p:txBody>
          <a:bodyPr wrap="square" lIns="0" tIns="0" rIns="0" bIns="0" rtlCol="0" anchor="ctr"/>
          <a:lstStyle/>
          <a:p>
            <a:pPr indent="0" marL="0">
              <a:buNone/>
            </a:pPr>
            <a:r>
              <a:rPr lang="en-US" sz="1500" b="1" dirty="0">
                <a:solidFill>
                  <a:srgbClr val="C9C4F7"/>
                </a:solidFill>
                <a:latin typeface="Cambria" pitchFamily="34" charset="0"/>
                <a:ea typeface="Cambria" pitchFamily="34" charset="-122"/>
                <a:cs typeface="Cambria" pitchFamily="34" charset="-120"/>
              </a:rPr>
              <a:t>12</a:t>
            </a:r>
            <a:endParaRPr lang="en-US" sz="1500" dirty="0"/>
          </a:p>
        </p:txBody>
      </p:sp>
      <p:sp>
        <p:nvSpPr>
          <p:cNvPr id="58" name="Text 56"/>
          <p:cNvSpPr txBox="1"/>
          <p:nvPr/>
        </p:nvSpPr>
        <p:spPr>
          <a:xfrm>
            <a:off x="7242048" y="2587752"/>
            <a:ext cx="1298448" cy="24688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Human Approval</a:t>
            </a:r>
            <a:endParaRPr lang="en-US" sz="1100" dirty="0"/>
          </a:p>
        </p:txBody>
      </p:sp>
      <p:sp>
        <p:nvSpPr>
          <p:cNvPr id="59" name="Text 57"/>
          <p:cNvSpPr txBox="1"/>
          <p:nvPr/>
        </p:nvSpPr>
        <p:spPr>
          <a:xfrm>
            <a:off x="7242048" y="2834640"/>
            <a:ext cx="1298448" cy="182880"/>
          </a:xfrm>
          <a:prstGeom prst="rect">
            <a:avLst/>
          </a:prstGeom>
          <a:noFill/>
          <a:ln/>
        </p:spPr>
        <p:txBody>
          <a:bodyPr wrap="square" lIns="0" tIns="0" rIns="0" bIns="0" rtlCol="0" anchor="ctr"/>
          <a:lstStyle/>
          <a:p>
            <a:pPr indent="0" marL="0">
              <a:buNone/>
            </a:pPr>
            <a:r>
              <a:rPr lang="en-US" sz="900" dirty="0">
                <a:solidFill>
                  <a:srgbClr val="C7CDD6"/>
                </a:solidFill>
                <a:latin typeface="Calibri" pitchFamily="34" charset="0"/>
                <a:ea typeface="Calibri" pitchFamily="34" charset="-122"/>
                <a:cs typeface="Calibri" pitchFamily="34" charset="-120"/>
              </a:rPr>
              <a:t>TPO sign-off</a:t>
            </a:r>
            <a:endParaRPr lang="en-US" sz="900" dirty="0"/>
          </a:p>
        </p:txBody>
      </p:sp>
      <p:sp>
        <p:nvSpPr>
          <p:cNvPr id="60" name="Shape 58"/>
          <p:cNvSpPr/>
          <p:nvPr/>
        </p:nvSpPr>
        <p:spPr>
          <a:xfrm>
            <a:off x="548640" y="3246120"/>
            <a:ext cx="8046720" cy="329184"/>
          </a:xfrm>
          <a:prstGeom prst="roundRect">
            <a:avLst>
              <a:gd name="adj" fmla="val 16667"/>
            </a:avLst>
          </a:prstGeom>
          <a:solidFill>
            <a:srgbClr val="222C38"/>
          </a:solidFill>
          <a:ln w="12700">
            <a:solidFill>
              <a:srgbClr val="222C38"/>
            </a:solidFill>
            <a:prstDash val="solid"/>
          </a:ln>
        </p:spPr>
      </p:sp>
      <p:sp>
        <p:nvSpPr>
          <p:cNvPr id="61" name="Text 59"/>
          <p:cNvSpPr txBox="1"/>
          <p:nvPr/>
        </p:nvSpPr>
        <p:spPr>
          <a:xfrm>
            <a:off x="548640" y="3246120"/>
            <a:ext cx="80467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Output → HR + Students: approved candidate list and conflict-free interview schedule</a:t>
            </a:r>
            <a:endParaRPr lang="en-US" sz="1100" dirty="0"/>
          </a:p>
        </p:txBody>
      </p:sp>
      <p:sp>
        <p:nvSpPr>
          <p:cNvPr id="62" name="Text 60"/>
          <p:cNvSpPr txBox="1"/>
          <p:nvPr/>
        </p:nvSpPr>
        <p:spPr>
          <a:xfrm>
            <a:off x="548640" y="3675888"/>
            <a:ext cx="4572000" cy="228600"/>
          </a:xfrm>
          <a:prstGeom prst="rect">
            <a:avLst/>
          </a:prstGeom>
          <a:noFill/>
          <a:ln/>
        </p:spPr>
        <p:txBody>
          <a:bodyPr wrap="square" lIns="0" tIns="0" rIns="0" bIns="0" rtlCol="0" anchor="ctr"/>
          <a:lstStyle/>
          <a:p>
            <a:pPr indent="0" marL="0">
              <a:buNone/>
            </a:pPr>
            <a:r>
              <a:rPr lang="en-US" sz="950" b="1" spc="200" kern="0" dirty="0">
                <a:solidFill>
                  <a:srgbClr val="6B7280"/>
                </a:solidFill>
                <a:latin typeface="Calibri" pitchFamily="34" charset="0"/>
                <a:ea typeface="Calibri" pitchFamily="34" charset="-122"/>
                <a:cs typeface="Calibri" pitchFamily="34" charset="-120"/>
              </a:rPr>
              <a:t>DECISION ROUTING &amp; RECOVERY</a:t>
            </a:r>
            <a:endParaRPr lang="en-US" sz="950" dirty="0"/>
          </a:p>
        </p:txBody>
      </p:sp>
      <p:sp>
        <p:nvSpPr>
          <p:cNvPr id="63" name="Shape 61"/>
          <p:cNvSpPr/>
          <p:nvPr/>
        </p:nvSpPr>
        <p:spPr>
          <a:xfrm>
            <a:off x="548640" y="3913632"/>
            <a:ext cx="1920240" cy="804672"/>
          </a:xfrm>
          <a:prstGeom prst="roundRect">
            <a:avLst>
              <a:gd name="adj" fmla="val 9091"/>
            </a:avLst>
          </a:prstGeom>
          <a:solidFill>
            <a:srgbClr val="F2F3F5"/>
          </a:solidFill>
          <a:ln w="12700">
            <a:solidFill>
              <a:srgbClr val="F2F3F5"/>
            </a:solidFill>
            <a:prstDash val="solid"/>
          </a:ln>
        </p:spPr>
      </p:sp>
      <p:sp>
        <p:nvSpPr>
          <p:cNvPr id="64" name="Text 62"/>
          <p:cNvSpPr txBox="1"/>
          <p:nvPr/>
        </p:nvSpPr>
        <p:spPr>
          <a:xfrm>
            <a:off x="640080" y="3950208"/>
            <a:ext cx="1737360" cy="20116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Conflict detected</a:t>
            </a:r>
            <a:endParaRPr lang="en-US" sz="1050" dirty="0"/>
          </a:p>
        </p:txBody>
      </p:sp>
      <p:sp>
        <p:nvSpPr>
          <p:cNvPr id="65" name="Text 63"/>
          <p:cNvSpPr txBox="1"/>
          <p:nvPr/>
        </p:nvSpPr>
        <p:spPr>
          <a:xfrm>
            <a:off x="640080" y="4151376"/>
            <a:ext cx="1737360" cy="548640"/>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Returns to the Scheduling Agent with new constraints; nothing invalid is published.</a:t>
            </a:r>
            <a:endParaRPr lang="en-US" sz="850" dirty="0"/>
          </a:p>
        </p:txBody>
      </p:sp>
      <p:sp>
        <p:nvSpPr>
          <p:cNvPr id="66" name="Shape 64"/>
          <p:cNvSpPr/>
          <p:nvPr/>
        </p:nvSpPr>
        <p:spPr>
          <a:xfrm>
            <a:off x="2606040" y="3913632"/>
            <a:ext cx="1920240" cy="804672"/>
          </a:xfrm>
          <a:prstGeom prst="roundRect">
            <a:avLst>
              <a:gd name="adj" fmla="val 9091"/>
            </a:avLst>
          </a:prstGeom>
          <a:solidFill>
            <a:srgbClr val="F2F3F5"/>
          </a:solidFill>
          <a:ln w="12700">
            <a:solidFill>
              <a:srgbClr val="F2F3F5"/>
            </a:solidFill>
            <a:prstDash val="solid"/>
          </a:ln>
        </p:spPr>
      </p:sp>
      <p:sp>
        <p:nvSpPr>
          <p:cNvPr id="67" name="Text 65"/>
          <p:cNvSpPr txBox="1"/>
          <p:nvPr/>
        </p:nvSpPr>
        <p:spPr>
          <a:xfrm>
            <a:off x="2697480" y="3950208"/>
            <a:ext cx="1737360" cy="20116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Criteria incomplete</a:t>
            </a:r>
            <a:endParaRPr lang="en-US" sz="1050" dirty="0"/>
          </a:p>
        </p:txBody>
      </p:sp>
      <p:sp>
        <p:nvSpPr>
          <p:cNvPr id="68" name="Text 66"/>
          <p:cNvSpPr txBox="1"/>
          <p:nvPr/>
        </p:nvSpPr>
        <p:spPr>
          <a:xfrm>
            <a:off x="2697480" y="4151376"/>
            <a:ext cx="1737360" cy="548640"/>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Requests clarification or flags the drive for TPO review — no invented conditions.</a:t>
            </a:r>
            <a:endParaRPr lang="en-US" sz="850" dirty="0"/>
          </a:p>
        </p:txBody>
      </p:sp>
      <p:sp>
        <p:nvSpPr>
          <p:cNvPr id="69" name="Shape 67"/>
          <p:cNvSpPr/>
          <p:nvPr/>
        </p:nvSpPr>
        <p:spPr>
          <a:xfrm>
            <a:off x="4663440" y="3913632"/>
            <a:ext cx="1920240" cy="804672"/>
          </a:xfrm>
          <a:prstGeom prst="roundRect">
            <a:avLst>
              <a:gd name="adj" fmla="val 9091"/>
            </a:avLst>
          </a:prstGeom>
          <a:solidFill>
            <a:srgbClr val="F2F3F5"/>
          </a:solidFill>
          <a:ln w="12700">
            <a:solidFill>
              <a:srgbClr val="F2F3F5"/>
            </a:solidFill>
            <a:prstDash val="solid"/>
          </a:ln>
        </p:spPr>
      </p:sp>
      <p:sp>
        <p:nvSpPr>
          <p:cNvPr id="70" name="Text 68"/>
          <p:cNvSpPr txBox="1"/>
          <p:nvPr/>
        </p:nvSpPr>
        <p:spPr>
          <a:xfrm>
            <a:off x="4754880" y="3950208"/>
            <a:ext cx="1737360" cy="20116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Verification unavailable</a:t>
            </a:r>
            <a:endParaRPr lang="en-US" sz="1050" dirty="0"/>
          </a:p>
        </p:txBody>
      </p:sp>
      <p:sp>
        <p:nvSpPr>
          <p:cNvPr id="71" name="Text 69"/>
          <p:cNvSpPr txBox="1"/>
          <p:nvPr/>
        </p:nvSpPr>
        <p:spPr>
          <a:xfrm>
            <a:off x="4754880" y="4151376"/>
            <a:ext cx="1737360" cy="548640"/>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Candidate marked pending verification, never wrongly rejected.</a:t>
            </a:r>
            <a:endParaRPr lang="en-US" sz="850" dirty="0"/>
          </a:p>
        </p:txBody>
      </p:sp>
      <p:sp>
        <p:nvSpPr>
          <p:cNvPr id="72" name="Shape 70"/>
          <p:cNvSpPr/>
          <p:nvPr/>
        </p:nvSpPr>
        <p:spPr>
          <a:xfrm>
            <a:off x="6720840" y="3913632"/>
            <a:ext cx="1920240" cy="804672"/>
          </a:xfrm>
          <a:prstGeom prst="roundRect">
            <a:avLst>
              <a:gd name="adj" fmla="val 9091"/>
            </a:avLst>
          </a:prstGeom>
          <a:solidFill>
            <a:srgbClr val="F2F3F5"/>
          </a:solidFill>
          <a:ln w="12700">
            <a:solidFill>
              <a:srgbClr val="F2F3F5"/>
            </a:solidFill>
            <a:prstDash val="solid"/>
          </a:ln>
        </p:spPr>
      </p:sp>
      <p:sp>
        <p:nvSpPr>
          <p:cNvPr id="73" name="Text 71"/>
          <p:cNvSpPr txBox="1"/>
          <p:nvPr/>
        </p:nvSpPr>
        <p:spPr>
          <a:xfrm>
            <a:off x="6812280" y="3950208"/>
            <a:ext cx="1737360" cy="20116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HR changes timing</a:t>
            </a:r>
            <a:endParaRPr lang="en-US" sz="1050" dirty="0"/>
          </a:p>
        </p:txBody>
      </p:sp>
      <p:sp>
        <p:nvSpPr>
          <p:cNvPr id="74" name="Text 72"/>
          <p:cNvSpPr txBox="1"/>
          <p:nvPr/>
        </p:nvSpPr>
        <p:spPr>
          <a:xfrm>
            <a:off x="6812280" y="4151376"/>
            <a:ext cx="1737360" cy="548640"/>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Affected candidates found, plan re-generated and re-validated before notifying.</a:t>
            </a:r>
            <a:endParaRPr lang="en-US" sz="850" dirty="0"/>
          </a:p>
        </p:txBody>
      </p:sp>
      <p:sp>
        <p:nvSpPr>
          <p:cNvPr id="75" name="Text 73"/>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Agentic RAG, Memory &amp; Safeguards</a:t>
            </a:r>
            <a:endParaRPr lang="en-US" sz="2600" dirty="0"/>
          </a:p>
        </p:txBody>
      </p:sp>
      <p:sp>
        <p:nvSpPr>
          <p:cNvPr id="3" name="Shape 1"/>
          <p:cNvSpPr/>
          <p:nvPr/>
        </p:nvSpPr>
        <p:spPr>
          <a:xfrm>
            <a:off x="548640" y="1097280"/>
            <a:ext cx="1371600" cy="640080"/>
          </a:xfrm>
          <a:prstGeom prst="roundRect">
            <a:avLst>
              <a:gd name="adj" fmla="val 8571"/>
            </a:avLst>
          </a:prstGeom>
          <a:solidFill>
            <a:srgbClr val="F2F3F5"/>
          </a:solidFill>
          <a:ln w="12700">
            <a:solidFill>
              <a:srgbClr val="F2F3F5"/>
            </a:solidFill>
            <a:prstDash val="solid"/>
          </a:ln>
        </p:spPr>
      </p:sp>
      <p:sp>
        <p:nvSpPr>
          <p:cNvPr id="4" name="Text 2"/>
          <p:cNvSpPr txBox="1"/>
          <p:nvPr/>
        </p:nvSpPr>
        <p:spPr>
          <a:xfrm>
            <a:off x="594360" y="1097280"/>
            <a:ext cx="1280160" cy="640080"/>
          </a:xfrm>
          <a:prstGeom prst="rect">
            <a:avLst/>
          </a:prstGeom>
          <a:noFill/>
          <a:ln/>
        </p:spPr>
        <p:txBody>
          <a:bodyPr wrap="square" lIns="0" tIns="0" rIns="0" bIns="0" rtlCol="0" anchor="ctr"/>
          <a:lstStyle/>
          <a:p>
            <a:pPr algn="ctr" indent="0" marL="0">
              <a:buNone/>
            </a:pPr>
            <a:r>
              <a:rPr lang="en-US" sz="1050" b="1" dirty="0">
                <a:solidFill>
                  <a:srgbClr val="1F2933"/>
                </a:solidFill>
                <a:latin typeface="Calibri" pitchFamily="34" charset="0"/>
                <a:ea typeface="Calibri" pitchFamily="34" charset="-122"/>
                <a:cs typeface="Calibri" pitchFamily="34" charset="-120"/>
              </a:rPr>
              <a:t>Placement Policies &amp; JDs</a:t>
            </a:r>
            <a:endParaRPr lang="en-US" sz="1050" dirty="0"/>
          </a:p>
        </p:txBody>
      </p:sp>
      <p:sp>
        <p:nvSpPr>
          <p:cNvPr id="5" name="Text 3"/>
          <p:cNvSpPr txBox="1"/>
          <p:nvPr/>
        </p:nvSpPr>
        <p:spPr>
          <a:xfrm>
            <a:off x="1920240" y="1097280"/>
            <a:ext cx="297180" cy="640080"/>
          </a:xfrm>
          <a:prstGeom prst="rect">
            <a:avLst/>
          </a:prstGeom>
          <a:noFill/>
          <a:ln/>
        </p:spPr>
        <p:txBody>
          <a:bodyPr wrap="square" lIns="0" tIns="0" rIns="0" bIns="0" rtlCol="0" anchor="ctr"/>
          <a:lstStyle/>
          <a:p>
            <a:pPr algn="ctr" indent="0" marL="0">
              <a:buNone/>
            </a:pPr>
            <a:r>
              <a:rPr lang="en-US" sz="2000" b="1" dirty="0">
                <a:solidFill>
                  <a:srgbClr val="9AA5B1"/>
                </a:solidFill>
                <a:latin typeface="Calibri" pitchFamily="34" charset="0"/>
                <a:ea typeface="Calibri" pitchFamily="34" charset="-122"/>
                <a:cs typeface="Calibri" pitchFamily="34" charset="-120"/>
              </a:rPr>
              <a:t>›</a:t>
            </a:r>
            <a:endParaRPr lang="en-US" sz="2000" dirty="0"/>
          </a:p>
        </p:txBody>
      </p:sp>
      <p:sp>
        <p:nvSpPr>
          <p:cNvPr id="6" name="Shape 4"/>
          <p:cNvSpPr/>
          <p:nvPr/>
        </p:nvSpPr>
        <p:spPr>
          <a:xfrm>
            <a:off x="2217420" y="1097280"/>
            <a:ext cx="1371600" cy="640080"/>
          </a:xfrm>
          <a:prstGeom prst="roundRect">
            <a:avLst>
              <a:gd name="adj" fmla="val 8571"/>
            </a:avLst>
          </a:prstGeom>
          <a:solidFill>
            <a:srgbClr val="F2F3F5"/>
          </a:solidFill>
          <a:ln w="12700">
            <a:solidFill>
              <a:srgbClr val="F2F3F5"/>
            </a:solidFill>
            <a:prstDash val="solid"/>
          </a:ln>
        </p:spPr>
      </p:sp>
      <p:sp>
        <p:nvSpPr>
          <p:cNvPr id="7" name="Text 5"/>
          <p:cNvSpPr txBox="1"/>
          <p:nvPr/>
        </p:nvSpPr>
        <p:spPr>
          <a:xfrm>
            <a:off x="2263140" y="1097280"/>
            <a:ext cx="1280160" cy="640080"/>
          </a:xfrm>
          <a:prstGeom prst="rect">
            <a:avLst/>
          </a:prstGeom>
          <a:noFill/>
          <a:ln/>
        </p:spPr>
        <p:txBody>
          <a:bodyPr wrap="square" lIns="0" tIns="0" rIns="0" bIns="0" rtlCol="0" anchor="ctr"/>
          <a:lstStyle/>
          <a:p>
            <a:pPr algn="ctr" indent="0" marL="0">
              <a:buNone/>
            </a:pPr>
            <a:r>
              <a:rPr lang="en-US" sz="1050" b="1" dirty="0">
                <a:solidFill>
                  <a:srgbClr val="1F2933"/>
                </a:solidFill>
                <a:latin typeface="Calibri" pitchFamily="34" charset="0"/>
                <a:ea typeface="Calibri" pitchFamily="34" charset="-122"/>
                <a:cs typeface="Calibri" pitchFamily="34" charset="-120"/>
              </a:rPr>
              <a:t>Chunk + Metadata</a:t>
            </a:r>
            <a:endParaRPr lang="en-US" sz="1050" dirty="0"/>
          </a:p>
        </p:txBody>
      </p:sp>
      <p:sp>
        <p:nvSpPr>
          <p:cNvPr id="8" name="Text 6"/>
          <p:cNvSpPr txBox="1"/>
          <p:nvPr/>
        </p:nvSpPr>
        <p:spPr>
          <a:xfrm>
            <a:off x="3589020" y="1097280"/>
            <a:ext cx="297180" cy="640080"/>
          </a:xfrm>
          <a:prstGeom prst="rect">
            <a:avLst/>
          </a:prstGeom>
          <a:noFill/>
          <a:ln/>
        </p:spPr>
        <p:txBody>
          <a:bodyPr wrap="square" lIns="0" tIns="0" rIns="0" bIns="0" rtlCol="0" anchor="ctr"/>
          <a:lstStyle/>
          <a:p>
            <a:pPr algn="ctr" indent="0" marL="0">
              <a:buNone/>
            </a:pPr>
            <a:r>
              <a:rPr lang="en-US" sz="2000" b="1" dirty="0">
                <a:solidFill>
                  <a:srgbClr val="9AA5B1"/>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886200" y="1097280"/>
            <a:ext cx="1371600" cy="640080"/>
          </a:xfrm>
          <a:prstGeom prst="roundRect">
            <a:avLst>
              <a:gd name="adj" fmla="val 8571"/>
            </a:avLst>
          </a:prstGeom>
          <a:solidFill>
            <a:srgbClr val="F2F3F5"/>
          </a:solidFill>
          <a:ln w="12700">
            <a:solidFill>
              <a:srgbClr val="F2F3F5"/>
            </a:solidFill>
            <a:prstDash val="solid"/>
          </a:ln>
        </p:spPr>
      </p:sp>
      <p:sp>
        <p:nvSpPr>
          <p:cNvPr id="10" name="Text 8"/>
          <p:cNvSpPr txBox="1"/>
          <p:nvPr/>
        </p:nvSpPr>
        <p:spPr>
          <a:xfrm>
            <a:off x="3931920" y="1097280"/>
            <a:ext cx="1280160" cy="640080"/>
          </a:xfrm>
          <a:prstGeom prst="rect">
            <a:avLst/>
          </a:prstGeom>
          <a:noFill/>
          <a:ln/>
        </p:spPr>
        <p:txBody>
          <a:bodyPr wrap="square" lIns="0" tIns="0" rIns="0" bIns="0" rtlCol="0" anchor="ctr"/>
          <a:lstStyle/>
          <a:p>
            <a:pPr algn="ctr" indent="0" marL="0">
              <a:buNone/>
            </a:pPr>
            <a:r>
              <a:rPr lang="en-US" sz="1050" b="1" dirty="0">
                <a:solidFill>
                  <a:srgbClr val="1F2933"/>
                </a:solidFill>
                <a:latin typeface="Calibri" pitchFamily="34" charset="0"/>
                <a:ea typeface="Calibri" pitchFamily="34" charset="-122"/>
                <a:cs typeface="Calibri" pitchFamily="34" charset="-120"/>
              </a:rPr>
              <a:t>Embeddings + Vector DB</a:t>
            </a:r>
            <a:endParaRPr lang="en-US" sz="1050" dirty="0"/>
          </a:p>
        </p:txBody>
      </p:sp>
      <p:sp>
        <p:nvSpPr>
          <p:cNvPr id="11" name="Text 9"/>
          <p:cNvSpPr txBox="1"/>
          <p:nvPr/>
        </p:nvSpPr>
        <p:spPr>
          <a:xfrm>
            <a:off x="5257800" y="1097280"/>
            <a:ext cx="297180" cy="640080"/>
          </a:xfrm>
          <a:prstGeom prst="rect">
            <a:avLst/>
          </a:prstGeom>
          <a:noFill/>
          <a:ln/>
        </p:spPr>
        <p:txBody>
          <a:bodyPr wrap="square" lIns="0" tIns="0" rIns="0" bIns="0" rtlCol="0" anchor="ctr"/>
          <a:lstStyle/>
          <a:p>
            <a:pPr algn="ctr" indent="0" marL="0">
              <a:buNone/>
            </a:pPr>
            <a:r>
              <a:rPr lang="en-US" sz="2000" b="1" dirty="0">
                <a:solidFill>
                  <a:srgbClr val="9AA5B1"/>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554980" y="1097280"/>
            <a:ext cx="1371600" cy="640080"/>
          </a:xfrm>
          <a:prstGeom prst="roundRect">
            <a:avLst>
              <a:gd name="adj" fmla="val 8571"/>
            </a:avLst>
          </a:prstGeom>
          <a:solidFill>
            <a:srgbClr val="F2F3F5"/>
          </a:solidFill>
          <a:ln w="12700">
            <a:solidFill>
              <a:srgbClr val="F2F3F5"/>
            </a:solidFill>
            <a:prstDash val="solid"/>
          </a:ln>
        </p:spPr>
      </p:sp>
      <p:sp>
        <p:nvSpPr>
          <p:cNvPr id="13" name="Text 11"/>
          <p:cNvSpPr txBox="1"/>
          <p:nvPr/>
        </p:nvSpPr>
        <p:spPr>
          <a:xfrm>
            <a:off x="5600700" y="1097280"/>
            <a:ext cx="1280160" cy="640080"/>
          </a:xfrm>
          <a:prstGeom prst="rect">
            <a:avLst/>
          </a:prstGeom>
          <a:noFill/>
          <a:ln/>
        </p:spPr>
        <p:txBody>
          <a:bodyPr wrap="square" lIns="0" tIns="0" rIns="0" bIns="0" rtlCol="0" anchor="ctr"/>
          <a:lstStyle/>
          <a:p>
            <a:pPr algn="ctr" indent="0" marL="0">
              <a:buNone/>
            </a:pPr>
            <a:r>
              <a:rPr lang="en-US" sz="1050" b="1" dirty="0">
                <a:solidFill>
                  <a:srgbClr val="1F2933"/>
                </a:solidFill>
                <a:latin typeface="Calibri" pitchFamily="34" charset="0"/>
                <a:ea typeface="Calibri" pitchFamily="34" charset="-122"/>
                <a:cs typeface="Calibri" pitchFamily="34" charset="-120"/>
              </a:rPr>
              <a:t>Agentic Retrieval</a:t>
            </a:r>
            <a:endParaRPr lang="en-US" sz="1050" dirty="0"/>
          </a:p>
        </p:txBody>
      </p:sp>
      <p:sp>
        <p:nvSpPr>
          <p:cNvPr id="14" name="Text 12"/>
          <p:cNvSpPr txBox="1"/>
          <p:nvPr/>
        </p:nvSpPr>
        <p:spPr>
          <a:xfrm>
            <a:off x="6926580" y="1097280"/>
            <a:ext cx="297180" cy="640080"/>
          </a:xfrm>
          <a:prstGeom prst="rect">
            <a:avLst/>
          </a:prstGeom>
          <a:noFill/>
          <a:ln/>
        </p:spPr>
        <p:txBody>
          <a:bodyPr wrap="square" lIns="0" tIns="0" rIns="0" bIns="0" rtlCol="0" anchor="ctr"/>
          <a:lstStyle/>
          <a:p>
            <a:pPr algn="ctr" indent="0" marL="0">
              <a:buNone/>
            </a:pPr>
            <a:r>
              <a:rPr lang="en-US" sz="2000" b="1" dirty="0">
                <a:solidFill>
                  <a:srgbClr val="9AA5B1"/>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7223760" y="1097280"/>
            <a:ext cx="1371600" cy="640080"/>
          </a:xfrm>
          <a:prstGeom prst="roundRect">
            <a:avLst>
              <a:gd name="adj" fmla="val 8571"/>
            </a:avLst>
          </a:prstGeom>
          <a:solidFill>
            <a:srgbClr val="3A4756"/>
          </a:solidFill>
          <a:ln w="12700">
            <a:solidFill>
              <a:srgbClr val="3A4756"/>
            </a:solidFill>
            <a:prstDash val="solid"/>
          </a:ln>
        </p:spPr>
      </p:sp>
      <p:sp>
        <p:nvSpPr>
          <p:cNvPr id="16" name="Text 14"/>
          <p:cNvSpPr txBox="1"/>
          <p:nvPr/>
        </p:nvSpPr>
        <p:spPr>
          <a:xfrm>
            <a:off x="7269480" y="1097280"/>
            <a:ext cx="128016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LLM + Decision</a:t>
            </a:r>
            <a:endParaRPr lang="en-US" sz="1050" dirty="0"/>
          </a:p>
        </p:txBody>
      </p:sp>
      <p:sp>
        <p:nvSpPr>
          <p:cNvPr id="17" name="Shape 15"/>
          <p:cNvSpPr/>
          <p:nvPr/>
        </p:nvSpPr>
        <p:spPr>
          <a:xfrm>
            <a:off x="548640" y="2011680"/>
            <a:ext cx="2590495" cy="2514600"/>
          </a:xfrm>
          <a:prstGeom prst="roundRect">
            <a:avLst>
              <a:gd name="adj" fmla="val 2909"/>
            </a:avLst>
          </a:prstGeom>
          <a:solidFill>
            <a:srgbClr val="F2F3F5"/>
          </a:solidFill>
          <a:ln w="12700">
            <a:solidFill>
              <a:srgbClr val="F2F3F5"/>
            </a:solidFill>
            <a:prstDash val="solid"/>
          </a:ln>
        </p:spPr>
      </p:sp>
      <p:sp>
        <p:nvSpPr>
          <p:cNvPr id="18" name="Text 16"/>
          <p:cNvSpPr txBox="1"/>
          <p:nvPr/>
        </p:nvSpPr>
        <p:spPr>
          <a:xfrm>
            <a:off x="731520" y="2148840"/>
            <a:ext cx="219456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Grounded Retrieval</a:t>
            </a:r>
            <a:endParaRPr lang="en-US" sz="1400" dirty="0"/>
          </a:p>
        </p:txBody>
      </p:sp>
      <p:sp>
        <p:nvSpPr>
          <p:cNvPr id="19" name="Text 17"/>
          <p:cNvSpPr txBox="1"/>
          <p:nvPr/>
        </p:nvSpPr>
        <p:spPr>
          <a:xfrm>
            <a:off x="731520" y="2514600"/>
            <a:ext cx="2240280" cy="192024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6B7280"/>
                </a:solidFill>
                <a:latin typeface="Calibri" pitchFamily="34" charset="0"/>
                <a:ea typeface="Calibri" pitchFamily="34" charset="-122"/>
                <a:cs typeface="Calibri" pitchFamily="34" charset="-120"/>
              </a:rPr>
              <a:t>Query built from company, role, student condition and current task</a:t>
            </a:r>
            <a:endParaRPr lang="en-US" sz="1100" dirty="0"/>
          </a:p>
          <a:p>
            <a:pPr marL="152400" indent="-152400">
              <a:spcAft>
                <a:spcPts val="500"/>
              </a:spcAft>
              <a:buSzPct val="100000"/>
              <a:buChar char="•"/>
            </a:pPr>
            <a:r>
              <a:rPr lang="en-US" sz="1100" dirty="0">
                <a:solidFill>
                  <a:srgbClr val="6B7280"/>
                </a:solidFill>
                <a:latin typeface="Calibri" pitchFamily="34" charset="0"/>
                <a:ea typeface="Calibri" pitchFamily="34" charset="-122"/>
                <a:cs typeface="Calibri" pitchFamily="34" charset="-120"/>
              </a:rPr>
              <a:t>Example: the Eligibility Agent retrieves the arrears policy instead of hardcoding it</a:t>
            </a:r>
            <a:endParaRPr lang="en-US" sz="1100" dirty="0"/>
          </a:p>
          <a:p>
            <a:pPr marL="152400" indent="-152400">
              <a:spcAft>
                <a:spcPts val="500"/>
              </a:spcAft>
              <a:buSzPct val="100000"/>
              <a:buChar char="•"/>
            </a:pPr>
            <a:r>
              <a:rPr lang="en-US" sz="1100" dirty="0">
                <a:solidFill>
                  <a:srgbClr val="6B7280"/>
                </a:solidFill>
                <a:latin typeface="Calibri" pitchFamily="34" charset="0"/>
                <a:ea typeface="Calibri" pitchFamily="34" charset="-122"/>
                <a:cs typeface="Calibri" pitchFamily="34" charset="-120"/>
              </a:rPr>
              <a:t>Sources kept in the decision context: verified facts, retrieved text and generated reasoning stay distinct</a:t>
            </a:r>
            <a:endParaRPr lang="en-US" sz="1100" dirty="0"/>
          </a:p>
        </p:txBody>
      </p:sp>
      <p:sp>
        <p:nvSpPr>
          <p:cNvPr id="20" name="Shape 18"/>
          <p:cNvSpPr/>
          <p:nvPr/>
        </p:nvSpPr>
        <p:spPr>
          <a:xfrm>
            <a:off x="3276295" y="2011680"/>
            <a:ext cx="2590495" cy="2514600"/>
          </a:xfrm>
          <a:prstGeom prst="roundRect">
            <a:avLst>
              <a:gd name="adj" fmla="val 2909"/>
            </a:avLst>
          </a:prstGeom>
          <a:solidFill>
            <a:srgbClr val="F2F3F5"/>
          </a:solidFill>
          <a:ln w="12700">
            <a:solidFill>
              <a:srgbClr val="F2F3F5"/>
            </a:solidFill>
            <a:prstDash val="solid"/>
          </a:ln>
        </p:spPr>
      </p:sp>
      <p:sp>
        <p:nvSpPr>
          <p:cNvPr id="21" name="Text 19"/>
          <p:cNvSpPr txBox="1"/>
          <p:nvPr/>
        </p:nvSpPr>
        <p:spPr>
          <a:xfrm>
            <a:off x="3459175" y="2148840"/>
            <a:ext cx="219456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Memory</a:t>
            </a:r>
            <a:endParaRPr lang="en-US" sz="1400" dirty="0"/>
          </a:p>
        </p:txBody>
      </p:sp>
      <p:sp>
        <p:nvSpPr>
          <p:cNvPr id="22" name="Text 20"/>
          <p:cNvSpPr txBox="1"/>
          <p:nvPr/>
        </p:nvSpPr>
        <p:spPr>
          <a:xfrm>
            <a:off x="3459175" y="2514600"/>
            <a:ext cx="2240280" cy="192024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6B7280"/>
                </a:solidFill>
                <a:latin typeface="Calibri" pitchFamily="34" charset="0"/>
                <a:ea typeface="Calibri" pitchFamily="34" charset="-122"/>
                <a:cs typeface="Calibri" pitchFamily="34" charset="-120"/>
              </a:rPr>
              <a:t>Short-term: current drive state, applications and schedule</a:t>
            </a:r>
            <a:endParaRPr lang="en-US" sz="1100" dirty="0"/>
          </a:p>
          <a:p>
            <a:pPr marL="152400" indent="-152400">
              <a:spcAft>
                <a:spcPts val="500"/>
              </a:spcAft>
              <a:buSzPct val="100000"/>
              <a:buChar char="•"/>
            </a:pPr>
            <a:r>
              <a:rPr lang="en-US" sz="1100" dirty="0">
                <a:solidFill>
                  <a:srgbClr val="6B7280"/>
                </a:solidFill>
                <a:latin typeface="Calibri" pitchFamily="34" charset="0"/>
                <a:ea typeface="Calibri" pitchFamily="34" charset="-122"/>
                <a:cs typeface="Calibri" pitchFamily="34" charset="-120"/>
              </a:rPr>
              <a:t>Long-term: previous drives, past decisions and placement patterns</a:t>
            </a:r>
            <a:endParaRPr lang="en-US" sz="1100" dirty="0"/>
          </a:p>
          <a:p>
            <a:pPr marL="152400" indent="-152400">
              <a:spcAft>
                <a:spcPts val="500"/>
              </a:spcAft>
              <a:buSzPct val="100000"/>
              <a:buChar char="•"/>
            </a:pPr>
            <a:r>
              <a:rPr lang="en-US" sz="1100" dirty="0">
                <a:solidFill>
                  <a:srgbClr val="6B7280"/>
                </a:solidFill>
                <a:latin typeface="Calibri" pitchFamily="34" charset="0"/>
                <a:ea typeface="Calibri" pitchFamily="34" charset="-122"/>
                <a:cs typeface="Calibri" pitchFamily="34" charset="-120"/>
              </a:rPr>
              <a:t>Each drive keeps its own state, so companies never mix</a:t>
            </a:r>
            <a:endParaRPr lang="en-US" sz="1100" dirty="0"/>
          </a:p>
        </p:txBody>
      </p:sp>
      <p:sp>
        <p:nvSpPr>
          <p:cNvPr id="23" name="Shape 21"/>
          <p:cNvSpPr/>
          <p:nvPr/>
        </p:nvSpPr>
        <p:spPr>
          <a:xfrm>
            <a:off x="6003950" y="2011680"/>
            <a:ext cx="2590495" cy="2514600"/>
          </a:xfrm>
          <a:prstGeom prst="roundRect">
            <a:avLst>
              <a:gd name="adj" fmla="val 2909"/>
            </a:avLst>
          </a:prstGeom>
          <a:solidFill>
            <a:srgbClr val="F2F3F5"/>
          </a:solidFill>
          <a:ln w="12700">
            <a:solidFill>
              <a:srgbClr val="F2F3F5"/>
            </a:solidFill>
            <a:prstDash val="solid"/>
          </a:ln>
        </p:spPr>
      </p:sp>
      <p:sp>
        <p:nvSpPr>
          <p:cNvPr id="24" name="Text 22"/>
          <p:cNvSpPr txBox="1"/>
          <p:nvPr/>
        </p:nvSpPr>
        <p:spPr>
          <a:xfrm>
            <a:off x="6186830" y="2148840"/>
            <a:ext cx="219456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Safeguards</a:t>
            </a:r>
            <a:endParaRPr lang="en-US" sz="1400" dirty="0"/>
          </a:p>
        </p:txBody>
      </p:sp>
      <p:sp>
        <p:nvSpPr>
          <p:cNvPr id="25" name="Text 23"/>
          <p:cNvSpPr txBox="1"/>
          <p:nvPr/>
        </p:nvSpPr>
        <p:spPr>
          <a:xfrm>
            <a:off x="6186830" y="2514600"/>
            <a:ext cx="2240280" cy="192024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6B7280"/>
                </a:solidFill>
                <a:latin typeface="Calibri" pitchFamily="34" charset="0"/>
                <a:ea typeface="Calibri" pitchFamily="34" charset="-122"/>
                <a:cs typeface="Calibri" pitchFamily="34" charset="-120"/>
              </a:rPr>
              <a:t>Role-based access enforced at the service layer</a:t>
            </a:r>
            <a:endParaRPr lang="en-US" sz="1100" dirty="0"/>
          </a:p>
          <a:p>
            <a:pPr marL="152400" indent="-152400">
              <a:spcAft>
                <a:spcPts val="500"/>
              </a:spcAft>
              <a:buSzPct val="100000"/>
              <a:buChar char="•"/>
            </a:pPr>
            <a:r>
              <a:rPr lang="en-US" sz="1100" dirty="0">
                <a:solidFill>
                  <a:srgbClr val="6B7280"/>
                </a:solidFill>
                <a:latin typeface="Calibri" pitchFamily="34" charset="0"/>
                <a:ea typeface="Calibri" pitchFamily="34" charset="-122"/>
                <a:cs typeface="Calibri" pitchFamily="34" charset="-120"/>
              </a:rPr>
              <a:t>Credentials never placed in prompts</a:t>
            </a:r>
            <a:endParaRPr lang="en-US" sz="1100" dirty="0"/>
          </a:p>
          <a:p>
            <a:pPr marL="152400" indent="-152400">
              <a:spcAft>
                <a:spcPts val="500"/>
              </a:spcAft>
              <a:buSzPct val="100000"/>
              <a:buChar char="•"/>
            </a:pPr>
            <a:r>
              <a:rPr lang="en-US" sz="1100" dirty="0">
                <a:solidFill>
                  <a:srgbClr val="6B7280"/>
                </a:solidFill>
                <a:latin typeface="Calibri" pitchFamily="34" charset="0"/>
                <a:ea typeface="Calibri" pitchFamily="34" charset="-122"/>
                <a:cs typeface="Calibri" pitchFamily="34" charset="-120"/>
              </a:rPr>
              <a:t>Sensitive student records kept out of unrestricted retrieval</a:t>
            </a:r>
            <a:endParaRPr lang="en-US" sz="1100" dirty="0"/>
          </a:p>
          <a:p>
            <a:pPr marL="152400" indent="-152400">
              <a:spcAft>
                <a:spcPts val="500"/>
              </a:spcAft>
              <a:buSzPct val="100000"/>
              <a:buChar char="•"/>
            </a:pPr>
            <a:r>
              <a:rPr lang="en-US" sz="1100" dirty="0">
                <a:solidFill>
                  <a:srgbClr val="6B7280"/>
                </a:solidFill>
                <a:latin typeface="Calibri" pitchFamily="34" charset="0"/>
                <a:ea typeface="Calibri" pitchFamily="34" charset="-122"/>
                <a:cs typeface="Calibri" pitchFamily="34" charset="-120"/>
              </a:rPr>
              <a:t>Audit log + human approval for shortlist and schedule release</a:t>
            </a:r>
            <a:endParaRPr lang="en-US" sz="1100" dirty="0"/>
          </a:p>
        </p:txBody>
      </p:sp>
      <p:sp>
        <p:nvSpPr>
          <p:cNvPr id="26" name="Text 24"/>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Comparison, Innovation &amp; Scalability</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5029200" cy="914400"/>
        </p:xfrm>
        <a:graphic>
          <a:graphicData uri="http://schemas.openxmlformats.org/drawingml/2006/table">
            <a:tbl>
              <a:tblPr/>
              <a:tblGrid>
                <a:gridCol w="2286000"/>
                <a:gridCol w="2743200"/>
              </a:tblGrid>
              <a:tr h="4023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 Fragmented Workflow</a:t>
                      </a:r>
                      <a:endParaRPr lang="en-US" sz="10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A475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Placify Workflow</a:t>
                      </a:r>
                      <a:endParaRPr lang="en-US" sz="10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5B4FCF"/>
                    </a:solidFill>
                  </a:tcPr>
                </a:tc>
              </a:tr>
              <a:tr h="402336">
                <a:tc>
                  <a:txBody>
                    <a:bodyPr/>
                    <a:lstStyle/>
                    <a:p>
                      <a:pPr indent="0" marL="0">
                        <a:buNone/>
                      </a:pPr>
                      <a:r>
                        <a:rPr lang="en-US" sz="950" dirty="0">
                          <a:solidFill>
                            <a:srgbClr val="6B7280"/>
                          </a:solidFill>
                          <a:latin typeface="Calibri" pitchFamily="34" charset="0"/>
                          <a:ea typeface="Calibri" pitchFamily="34" charset="-122"/>
                          <a:cs typeface="Calibri" pitchFamily="34" charset="-120"/>
                        </a:rPr>
                        <a:t>Manual eligibility checking</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Eligibility Agent applies structured criteria</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950" dirty="0">
                          <a:solidFill>
                            <a:srgbClr val="6B7280"/>
                          </a:solidFill>
                          <a:latin typeface="Calibri" pitchFamily="34" charset="0"/>
                          <a:ea typeface="Calibri" pitchFamily="34" charset="-122"/>
                          <a:cs typeface="Calibri" pitchFamily="34" charset="-120"/>
                        </a:rPr>
                        <a:t>Separate academic verification</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Verification Agent checks authorized data</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r>
              <a:tr h="402336">
                <a:tc>
                  <a:txBody>
                    <a:bodyPr/>
                    <a:lstStyle/>
                    <a:p>
                      <a:pPr indent="0" marL="0">
                        <a:buNone/>
                      </a:pPr>
                      <a:r>
                        <a:rPr lang="en-US" sz="950" dirty="0">
                          <a:solidFill>
                            <a:srgbClr val="6B7280"/>
                          </a:solidFill>
                          <a:latin typeface="Calibri" pitchFamily="34" charset="0"/>
                          <a:ea typeface="Calibri" pitchFamily="34" charset="-122"/>
                          <a:cs typeface="Calibri" pitchFamily="34" charset="-120"/>
                        </a:rPr>
                        <a:t>Manual forms and invitations</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Application + Communication Agents run the cycle</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950" dirty="0">
                          <a:solidFill>
                            <a:srgbClr val="6B7280"/>
                          </a:solidFill>
                          <a:latin typeface="Calibri" pitchFamily="34" charset="0"/>
                          <a:ea typeface="Calibri" pitchFamily="34" charset="-122"/>
                          <a:cs typeface="Calibri" pitchFamily="34" charset="-120"/>
                        </a:rPr>
                        <a:t>Manual reminder lists</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Reminders target only pending applicants</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r>
              <a:tr h="402336">
                <a:tc>
                  <a:txBody>
                    <a:bodyPr/>
                    <a:lstStyle/>
                    <a:p>
                      <a:pPr indent="0" marL="0">
                        <a:buNone/>
                      </a:pPr>
                      <a:r>
                        <a:rPr lang="en-US" sz="950" dirty="0">
                          <a:solidFill>
                            <a:srgbClr val="6B7280"/>
                          </a:solidFill>
                          <a:latin typeface="Calibri" pitchFamily="34" charset="0"/>
                          <a:ea typeface="Calibri" pitchFamily="34" charset="-122"/>
                          <a:cs typeface="Calibri" pitchFamily="34" charset="-120"/>
                        </a:rPr>
                        <a:t>Manual shortlist preparation</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Assessment + Shortlisting Agents combine conditions</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950" dirty="0">
                          <a:solidFill>
                            <a:srgbClr val="6B7280"/>
                          </a:solidFill>
                          <a:latin typeface="Calibri" pitchFamily="34" charset="0"/>
                          <a:ea typeface="Calibri" pitchFamily="34" charset="-122"/>
                          <a:cs typeface="Calibri" pitchFamily="34" charset="-120"/>
                        </a:rPr>
                        <a:t>Manual schedule reconciliation</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Scheduler + Conflict Checker validate constraints</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2F3F5"/>
                    </a:solidFill>
                  </a:tcPr>
                </a:tc>
              </a:tr>
              <a:tr h="402336">
                <a:tc>
                  <a:txBody>
                    <a:bodyPr/>
                    <a:lstStyle/>
                    <a:p>
                      <a:pPr indent="0" marL="0">
                        <a:buNone/>
                      </a:pPr>
                      <a:r>
                        <a:rPr lang="en-US" sz="950" dirty="0">
                          <a:solidFill>
                            <a:srgbClr val="6B7280"/>
                          </a:solidFill>
                          <a:latin typeface="Calibri" pitchFamily="34" charset="0"/>
                          <a:ea typeface="Calibri" pitchFamily="34" charset="-122"/>
                          <a:cs typeface="Calibri" pitchFamily="34" charset="-120"/>
                        </a:rPr>
                        <a:t>Restarting after changes</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Orchestrator preserves state and re-plans</a:t>
                      </a:r>
                      <a:endParaRPr lang="en-US" sz="950" dirty="0">
                        <a:latin typeface="Calibri" charset="0"/>
                        <a:ea typeface="Calibri" charset="0"/>
                        <a:cs typeface="Calibri" charset="0"/>
                      </a:endParaRPr>
                    </a:p>
                  </a:txBody>
                  <a:tcPr marL="91440" marR="91440"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852160" y="1097280"/>
            <a:ext cx="2743200" cy="228600"/>
          </a:xfrm>
          <a:prstGeom prst="rect">
            <a:avLst/>
          </a:prstGeom>
          <a:noFill/>
          <a:ln/>
        </p:spPr>
        <p:txBody>
          <a:bodyPr wrap="square" lIns="0" tIns="0" rIns="0" bIns="0" rtlCol="0" anchor="ctr"/>
          <a:lstStyle/>
          <a:p>
            <a:pPr indent="0" marL="0">
              <a:buNone/>
            </a:pPr>
            <a:r>
              <a:rPr lang="en-US" sz="950" b="1" spc="200" kern="0" dirty="0">
                <a:solidFill>
                  <a:srgbClr val="6B7280"/>
                </a:solidFill>
                <a:latin typeface="Calibri" pitchFamily="34" charset="0"/>
                <a:ea typeface="Calibri" pitchFamily="34" charset="-122"/>
                <a:cs typeface="Calibri" pitchFamily="34" charset="-120"/>
              </a:rPr>
              <a:t>INNOVATION</a:t>
            </a:r>
            <a:endParaRPr lang="en-US" sz="950" dirty="0"/>
          </a:p>
        </p:txBody>
      </p:sp>
      <p:sp>
        <p:nvSpPr>
          <p:cNvPr id="5" name="Text 2"/>
          <p:cNvSpPr txBox="1"/>
          <p:nvPr/>
        </p:nvSpPr>
        <p:spPr>
          <a:xfrm>
            <a:off x="5852160" y="1371600"/>
            <a:ext cx="2743200" cy="22860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End-to-end lifecycle</a:t>
            </a:r>
            <a:endParaRPr lang="en-US" sz="1150" dirty="0"/>
          </a:p>
        </p:txBody>
      </p:sp>
      <p:sp>
        <p:nvSpPr>
          <p:cNvPr id="6" name="Text 3"/>
          <p:cNvSpPr txBox="1"/>
          <p:nvPr/>
        </p:nvSpPr>
        <p:spPr>
          <a:xfrm>
            <a:off x="5852160" y="1609344"/>
            <a:ext cx="2743200" cy="384048"/>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Eligibility to scheduling in one stateful workflow.</a:t>
            </a:r>
            <a:endParaRPr lang="en-US" sz="1000" dirty="0"/>
          </a:p>
        </p:txBody>
      </p:sp>
      <p:sp>
        <p:nvSpPr>
          <p:cNvPr id="7" name="Text 4"/>
          <p:cNvSpPr txBox="1"/>
          <p:nvPr/>
        </p:nvSpPr>
        <p:spPr>
          <a:xfrm>
            <a:off x="5852160" y="2084832"/>
            <a:ext cx="2743200" cy="22860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Adaptive re-planning</a:t>
            </a:r>
            <a:endParaRPr lang="en-US" sz="1150" dirty="0"/>
          </a:p>
        </p:txBody>
      </p:sp>
      <p:sp>
        <p:nvSpPr>
          <p:cNvPr id="8" name="Text 5"/>
          <p:cNvSpPr txBox="1"/>
          <p:nvPr/>
        </p:nvSpPr>
        <p:spPr>
          <a:xfrm>
            <a:off x="5852160" y="2322576"/>
            <a:ext cx="2743200" cy="384048"/>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Schedules are plans that can be checked and revised — no restart.</a:t>
            </a:r>
            <a:endParaRPr lang="en-US" sz="1000" dirty="0"/>
          </a:p>
        </p:txBody>
      </p:sp>
      <p:sp>
        <p:nvSpPr>
          <p:cNvPr id="9" name="Text 6"/>
          <p:cNvSpPr txBox="1"/>
          <p:nvPr/>
        </p:nvSpPr>
        <p:spPr>
          <a:xfrm>
            <a:off x="5852160" y="2798064"/>
            <a:ext cx="2743200" cy="22860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RAG + institutional memory</a:t>
            </a:r>
            <a:endParaRPr lang="en-US" sz="1150" dirty="0"/>
          </a:p>
        </p:txBody>
      </p:sp>
      <p:sp>
        <p:nvSpPr>
          <p:cNvPr id="10" name="Text 7"/>
          <p:cNvSpPr txBox="1"/>
          <p:nvPr/>
        </p:nvSpPr>
        <p:spPr>
          <a:xfrm>
            <a:off x="5852160" y="3035808"/>
            <a:ext cx="2743200" cy="384048"/>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Explainable, policy-grounded decisions.</a:t>
            </a:r>
            <a:endParaRPr lang="en-US" sz="1000" dirty="0"/>
          </a:p>
        </p:txBody>
      </p:sp>
      <p:sp>
        <p:nvSpPr>
          <p:cNvPr id="11" name="Shape 8"/>
          <p:cNvSpPr/>
          <p:nvPr/>
        </p:nvSpPr>
        <p:spPr>
          <a:xfrm>
            <a:off x="5852160" y="3657600"/>
            <a:ext cx="2743200" cy="1005840"/>
          </a:xfrm>
          <a:prstGeom prst="roundRect">
            <a:avLst>
              <a:gd name="adj" fmla="val 7273"/>
            </a:avLst>
          </a:prstGeom>
          <a:solidFill>
            <a:srgbClr val="3A4756"/>
          </a:solidFill>
          <a:ln w="12700">
            <a:solidFill>
              <a:srgbClr val="3A4756"/>
            </a:solidFill>
            <a:prstDash val="solid"/>
          </a:ln>
        </p:spPr>
      </p:sp>
      <p:sp>
        <p:nvSpPr>
          <p:cNvPr id="12" name="Text 9"/>
          <p:cNvSpPr txBox="1"/>
          <p:nvPr/>
        </p:nvSpPr>
        <p:spPr>
          <a:xfrm>
            <a:off x="5989320" y="3749040"/>
            <a:ext cx="2468880" cy="841248"/>
          </a:xfrm>
          <a:prstGeom prst="rect">
            <a:avLst/>
          </a:prstGeom>
          <a:noFill/>
          <a:ln/>
        </p:spPr>
        <p:txBody>
          <a:bodyPr wrap="square" lIns="0" tIns="0" rIns="0" bIns="0" rtlCol="0" anchor="t"/>
          <a:lstStyle/>
          <a:p>
            <a:pPr indent="0" marL="0">
              <a:buNone/>
            </a:pPr>
            <a:r>
              <a:rPr lang="en-US" sz="900" b="1" spc="200" kern="0" dirty="0">
                <a:solidFill>
                  <a:srgbClr val="C9C4F7"/>
                </a:solidFill>
                <a:latin typeface="Calibri" pitchFamily="34" charset="0"/>
                <a:ea typeface="Calibri" pitchFamily="34" charset="-122"/>
                <a:cs typeface="Calibri" pitchFamily="34" charset="-120"/>
              </a:rPr>
              <a:t>SCALABILITY</a:t>
            </a:r>
            <a:endParaRPr lang="en-US" sz="900" dirty="0"/>
          </a:p>
          <a:p>
            <a:pPr indent="0" marL="0">
              <a:buNone/>
            </a:pPr>
            <a:r>
              <a:rPr lang="en-US" sz="1050" dirty="0">
                <a:solidFill>
                  <a:srgbClr val="D5DAE1"/>
                </a:solidFill>
                <a:latin typeface="Calibri" pitchFamily="34" charset="0"/>
                <a:ea typeface="Calibri" pitchFamily="34" charset="-122"/>
                <a:cs typeface="Calibri" pitchFamily="34" charset="-120"/>
              </a:rPr>
              <a:t>Same agent roles scale to more students, drives and documents; extend with ERP, recruiter platforms and analytics.</a:t>
            </a:r>
            <a:endParaRPr lang="en-US" sz="900" dirty="0"/>
          </a:p>
        </p:txBody>
      </p:sp>
      <p:sp>
        <p:nvSpPr>
          <p:cNvPr id="13" name="Text 10"/>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Project Plan &amp; Milestones</a:t>
            </a:r>
            <a:endParaRPr lang="en-US" sz="2600" dirty="0"/>
          </a:p>
        </p:txBody>
      </p:sp>
      <p:sp>
        <p:nvSpPr>
          <p:cNvPr id="3" name="Shape 1"/>
          <p:cNvSpPr/>
          <p:nvPr/>
        </p:nvSpPr>
        <p:spPr>
          <a:xfrm>
            <a:off x="1170432" y="1600200"/>
            <a:ext cx="6803136" cy="0"/>
          </a:xfrm>
          <a:prstGeom prst="line">
            <a:avLst/>
          </a:prstGeom>
          <a:noFill/>
          <a:ln w="19050">
            <a:solidFill>
              <a:srgbClr val="C5CAD1"/>
            </a:solidFill>
            <a:prstDash val="solid"/>
          </a:ln>
        </p:spPr>
      </p:sp>
      <p:sp>
        <p:nvSpPr>
          <p:cNvPr id="4" name="Shape 2"/>
          <p:cNvSpPr/>
          <p:nvPr/>
        </p:nvSpPr>
        <p:spPr>
          <a:xfrm>
            <a:off x="950976" y="1380744"/>
            <a:ext cx="438912" cy="438912"/>
          </a:xfrm>
          <a:prstGeom prst="ellipse">
            <a:avLst/>
          </a:prstGeom>
          <a:solidFill>
            <a:srgbClr val="3A4756"/>
          </a:solidFill>
          <a:ln w="25400">
            <a:solidFill>
              <a:srgbClr val="FFFFFF"/>
            </a:solidFill>
            <a:prstDash val="solid"/>
          </a:ln>
        </p:spPr>
      </p:sp>
      <p:sp>
        <p:nvSpPr>
          <p:cNvPr id="5" name="Text 3"/>
          <p:cNvSpPr txBox="1"/>
          <p:nvPr/>
        </p:nvSpPr>
        <p:spPr>
          <a:xfrm>
            <a:off x="950976" y="1380744"/>
            <a:ext cx="438912"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P1</a:t>
            </a:r>
            <a:endParaRPr lang="en-US" sz="1100" dirty="0"/>
          </a:p>
        </p:txBody>
      </p:sp>
      <p:sp>
        <p:nvSpPr>
          <p:cNvPr id="6" name="Shape 4"/>
          <p:cNvSpPr/>
          <p:nvPr/>
        </p:nvSpPr>
        <p:spPr>
          <a:xfrm>
            <a:off x="548640" y="2148840"/>
            <a:ext cx="1243584" cy="2331720"/>
          </a:xfrm>
          <a:prstGeom prst="roundRect">
            <a:avLst>
              <a:gd name="adj" fmla="val 5882"/>
            </a:avLst>
          </a:prstGeom>
          <a:solidFill>
            <a:srgbClr val="F2F3F5"/>
          </a:solidFill>
          <a:ln w="12700">
            <a:solidFill>
              <a:srgbClr val="F2F3F5"/>
            </a:solidFill>
            <a:prstDash val="solid"/>
          </a:ln>
        </p:spPr>
      </p:sp>
      <p:sp>
        <p:nvSpPr>
          <p:cNvPr id="7" name="Text 5"/>
          <p:cNvSpPr txBox="1"/>
          <p:nvPr/>
        </p:nvSpPr>
        <p:spPr>
          <a:xfrm>
            <a:off x="658368" y="2286000"/>
            <a:ext cx="1024128"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Requirements</a:t>
            </a:r>
            <a:endParaRPr lang="en-US" sz="1250" dirty="0"/>
          </a:p>
        </p:txBody>
      </p:sp>
      <p:sp>
        <p:nvSpPr>
          <p:cNvPr id="8" name="Text 6"/>
          <p:cNvSpPr txBox="1"/>
          <p:nvPr/>
        </p:nvSpPr>
        <p:spPr>
          <a:xfrm>
            <a:off x="658368" y="2578608"/>
            <a:ext cx="1024128" cy="219456"/>
          </a:xfrm>
          <a:prstGeom prst="rect">
            <a:avLst/>
          </a:prstGeom>
          <a:noFill/>
          <a:ln/>
        </p:spPr>
        <p:txBody>
          <a:bodyPr wrap="square" lIns="0" tIns="0" rIns="0" bIns="0" rtlCol="0" anchor="ctr"/>
          <a:lstStyle/>
          <a:p>
            <a:pPr indent="0" marL="0">
              <a:buNone/>
            </a:pPr>
            <a:r>
              <a:rPr lang="en-US" sz="1050" b="1" dirty="0">
                <a:solidFill>
                  <a:srgbClr val="5B4FCF"/>
                </a:solidFill>
                <a:latin typeface="Calibri" pitchFamily="34" charset="0"/>
                <a:ea typeface="Calibri" pitchFamily="34" charset="-122"/>
                <a:cs typeface="Calibri" pitchFamily="34" charset="-120"/>
              </a:rPr>
              <a:t>Weeks 1–2</a:t>
            </a:r>
            <a:endParaRPr lang="en-US" sz="1050" dirty="0"/>
          </a:p>
        </p:txBody>
      </p:sp>
      <p:sp>
        <p:nvSpPr>
          <p:cNvPr id="9" name="Text 7"/>
          <p:cNvSpPr txBox="1"/>
          <p:nvPr/>
        </p:nvSpPr>
        <p:spPr>
          <a:xfrm>
            <a:off x="658368" y="2926080"/>
            <a:ext cx="1024128" cy="14630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Requirement analysis, placement workflow mapping and controlled dataset design.</a:t>
            </a:r>
            <a:endParaRPr lang="en-US" sz="1100" dirty="0"/>
          </a:p>
        </p:txBody>
      </p:sp>
      <p:sp>
        <p:nvSpPr>
          <p:cNvPr id="10" name="Shape 8"/>
          <p:cNvSpPr/>
          <p:nvPr/>
        </p:nvSpPr>
        <p:spPr>
          <a:xfrm>
            <a:off x="2311603" y="1380744"/>
            <a:ext cx="438912" cy="438912"/>
          </a:xfrm>
          <a:prstGeom prst="ellipse">
            <a:avLst/>
          </a:prstGeom>
          <a:solidFill>
            <a:srgbClr val="3A4756"/>
          </a:solidFill>
          <a:ln w="25400">
            <a:solidFill>
              <a:srgbClr val="FFFFFF"/>
            </a:solidFill>
            <a:prstDash val="solid"/>
          </a:ln>
        </p:spPr>
      </p:sp>
      <p:sp>
        <p:nvSpPr>
          <p:cNvPr id="11" name="Text 9"/>
          <p:cNvSpPr txBox="1"/>
          <p:nvPr/>
        </p:nvSpPr>
        <p:spPr>
          <a:xfrm>
            <a:off x="2311603" y="1380744"/>
            <a:ext cx="438912"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P2</a:t>
            </a:r>
            <a:endParaRPr lang="en-US" sz="1100" dirty="0"/>
          </a:p>
        </p:txBody>
      </p:sp>
      <p:sp>
        <p:nvSpPr>
          <p:cNvPr id="12" name="Shape 10"/>
          <p:cNvSpPr/>
          <p:nvPr/>
        </p:nvSpPr>
        <p:spPr>
          <a:xfrm>
            <a:off x="1909267" y="2148840"/>
            <a:ext cx="1243584" cy="2331720"/>
          </a:xfrm>
          <a:prstGeom prst="roundRect">
            <a:avLst>
              <a:gd name="adj" fmla="val 5882"/>
            </a:avLst>
          </a:prstGeom>
          <a:solidFill>
            <a:srgbClr val="F2F3F5"/>
          </a:solidFill>
          <a:ln w="12700">
            <a:solidFill>
              <a:srgbClr val="F2F3F5"/>
            </a:solidFill>
            <a:prstDash val="solid"/>
          </a:ln>
        </p:spPr>
      </p:sp>
      <p:sp>
        <p:nvSpPr>
          <p:cNvPr id="13" name="Text 11"/>
          <p:cNvSpPr txBox="1"/>
          <p:nvPr/>
        </p:nvSpPr>
        <p:spPr>
          <a:xfrm>
            <a:off x="2018995" y="2286000"/>
            <a:ext cx="1024128"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Architecture</a:t>
            </a:r>
            <a:endParaRPr lang="en-US" sz="1250" dirty="0"/>
          </a:p>
        </p:txBody>
      </p:sp>
      <p:sp>
        <p:nvSpPr>
          <p:cNvPr id="14" name="Text 12"/>
          <p:cNvSpPr txBox="1"/>
          <p:nvPr/>
        </p:nvSpPr>
        <p:spPr>
          <a:xfrm>
            <a:off x="2018995" y="2578608"/>
            <a:ext cx="1024128" cy="219456"/>
          </a:xfrm>
          <a:prstGeom prst="rect">
            <a:avLst/>
          </a:prstGeom>
          <a:noFill/>
          <a:ln/>
        </p:spPr>
        <p:txBody>
          <a:bodyPr wrap="square" lIns="0" tIns="0" rIns="0" bIns="0" rtlCol="0" anchor="ctr"/>
          <a:lstStyle/>
          <a:p>
            <a:pPr indent="0" marL="0">
              <a:buNone/>
            </a:pPr>
            <a:r>
              <a:rPr lang="en-US" sz="1050" b="1" dirty="0">
                <a:solidFill>
                  <a:srgbClr val="5B4FCF"/>
                </a:solidFill>
                <a:latin typeface="Calibri" pitchFamily="34" charset="0"/>
                <a:ea typeface="Calibri" pitchFamily="34" charset="-122"/>
                <a:cs typeface="Calibri" pitchFamily="34" charset="-120"/>
              </a:rPr>
              <a:t>Weeks 3–4</a:t>
            </a:r>
            <a:endParaRPr lang="en-US" sz="1050" dirty="0"/>
          </a:p>
        </p:txBody>
      </p:sp>
      <p:sp>
        <p:nvSpPr>
          <p:cNvPr id="15" name="Text 13"/>
          <p:cNvSpPr txBox="1"/>
          <p:nvPr/>
        </p:nvSpPr>
        <p:spPr>
          <a:xfrm>
            <a:off x="2018995" y="2926080"/>
            <a:ext cx="1024128" cy="14630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Agent architecture, state model, database and RAG design.</a:t>
            </a:r>
            <a:endParaRPr lang="en-US" sz="1100" dirty="0"/>
          </a:p>
        </p:txBody>
      </p:sp>
      <p:sp>
        <p:nvSpPr>
          <p:cNvPr id="16" name="Shape 14"/>
          <p:cNvSpPr/>
          <p:nvPr/>
        </p:nvSpPr>
        <p:spPr>
          <a:xfrm>
            <a:off x="3672230" y="1380744"/>
            <a:ext cx="438912" cy="438912"/>
          </a:xfrm>
          <a:prstGeom prst="ellipse">
            <a:avLst/>
          </a:prstGeom>
          <a:solidFill>
            <a:srgbClr val="3A4756"/>
          </a:solidFill>
          <a:ln w="25400">
            <a:solidFill>
              <a:srgbClr val="FFFFFF"/>
            </a:solidFill>
            <a:prstDash val="solid"/>
          </a:ln>
        </p:spPr>
      </p:sp>
      <p:sp>
        <p:nvSpPr>
          <p:cNvPr id="17" name="Text 15"/>
          <p:cNvSpPr txBox="1"/>
          <p:nvPr/>
        </p:nvSpPr>
        <p:spPr>
          <a:xfrm>
            <a:off x="3672230" y="1380744"/>
            <a:ext cx="438912"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P3</a:t>
            </a:r>
            <a:endParaRPr lang="en-US" sz="1100" dirty="0"/>
          </a:p>
        </p:txBody>
      </p:sp>
      <p:sp>
        <p:nvSpPr>
          <p:cNvPr id="18" name="Shape 16"/>
          <p:cNvSpPr/>
          <p:nvPr/>
        </p:nvSpPr>
        <p:spPr>
          <a:xfrm>
            <a:off x="3269894" y="2148840"/>
            <a:ext cx="1243584" cy="2331720"/>
          </a:xfrm>
          <a:prstGeom prst="roundRect">
            <a:avLst>
              <a:gd name="adj" fmla="val 5882"/>
            </a:avLst>
          </a:prstGeom>
          <a:solidFill>
            <a:srgbClr val="F2F3F5"/>
          </a:solidFill>
          <a:ln w="12700">
            <a:solidFill>
              <a:srgbClr val="F2F3F5"/>
            </a:solidFill>
            <a:prstDash val="solid"/>
          </a:ln>
        </p:spPr>
      </p:sp>
      <p:sp>
        <p:nvSpPr>
          <p:cNvPr id="19" name="Text 17"/>
          <p:cNvSpPr txBox="1"/>
          <p:nvPr/>
        </p:nvSpPr>
        <p:spPr>
          <a:xfrm>
            <a:off x="3379622" y="2286000"/>
            <a:ext cx="1024128"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Core Agents</a:t>
            </a:r>
            <a:endParaRPr lang="en-US" sz="1250" dirty="0"/>
          </a:p>
        </p:txBody>
      </p:sp>
      <p:sp>
        <p:nvSpPr>
          <p:cNvPr id="20" name="Text 18"/>
          <p:cNvSpPr txBox="1"/>
          <p:nvPr/>
        </p:nvSpPr>
        <p:spPr>
          <a:xfrm>
            <a:off x="3379622" y="2578608"/>
            <a:ext cx="1024128" cy="219456"/>
          </a:xfrm>
          <a:prstGeom prst="rect">
            <a:avLst/>
          </a:prstGeom>
          <a:noFill/>
          <a:ln/>
        </p:spPr>
        <p:txBody>
          <a:bodyPr wrap="square" lIns="0" tIns="0" rIns="0" bIns="0" rtlCol="0" anchor="ctr"/>
          <a:lstStyle/>
          <a:p>
            <a:pPr indent="0" marL="0">
              <a:buNone/>
            </a:pPr>
            <a:r>
              <a:rPr lang="en-US" sz="1050" b="1" dirty="0">
                <a:solidFill>
                  <a:srgbClr val="5B4FCF"/>
                </a:solidFill>
                <a:latin typeface="Calibri" pitchFamily="34" charset="0"/>
                <a:ea typeface="Calibri" pitchFamily="34" charset="-122"/>
                <a:cs typeface="Calibri" pitchFamily="34" charset="-120"/>
              </a:rPr>
              <a:t>Weeks 5–7</a:t>
            </a:r>
            <a:endParaRPr lang="en-US" sz="1050" dirty="0"/>
          </a:p>
        </p:txBody>
      </p:sp>
      <p:sp>
        <p:nvSpPr>
          <p:cNvPr id="21" name="Text 19"/>
          <p:cNvSpPr txBox="1"/>
          <p:nvPr/>
        </p:nvSpPr>
        <p:spPr>
          <a:xfrm>
            <a:off x="3379622" y="2926080"/>
            <a:ext cx="1024128" cy="14630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Eligibility, verification, application and communication agents.</a:t>
            </a:r>
            <a:endParaRPr lang="en-US" sz="1100" dirty="0"/>
          </a:p>
        </p:txBody>
      </p:sp>
      <p:sp>
        <p:nvSpPr>
          <p:cNvPr id="22" name="Shape 20"/>
          <p:cNvSpPr/>
          <p:nvPr/>
        </p:nvSpPr>
        <p:spPr>
          <a:xfrm>
            <a:off x="5032858" y="1380744"/>
            <a:ext cx="438912" cy="438912"/>
          </a:xfrm>
          <a:prstGeom prst="ellipse">
            <a:avLst/>
          </a:prstGeom>
          <a:solidFill>
            <a:srgbClr val="3A4756"/>
          </a:solidFill>
          <a:ln w="25400">
            <a:solidFill>
              <a:srgbClr val="FFFFFF"/>
            </a:solidFill>
            <a:prstDash val="solid"/>
          </a:ln>
        </p:spPr>
      </p:sp>
      <p:sp>
        <p:nvSpPr>
          <p:cNvPr id="23" name="Text 21"/>
          <p:cNvSpPr txBox="1"/>
          <p:nvPr/>
        </p:nvSpPr>
        <p:spPr>
          <a:xfrm>
            <a:off x="5032858" y="1380744"/>
            <a:ext cx="438912"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P4</a:t>
            </a:r>
            <a:endParaRPr lang="en-US" sz="1100" dirty="0"/>
          </a:p>
        </p:txBody>
      </p:sp>
      <p:sp>
        <p:nvSpPr>
          <p:cNvPr id="24" name="Shape 22"/>
          <p:cNvSpPr/>
          <p:nvPr/>
        </p:nvSpPr>
        <p:spPr>
          <a:xfrm>
            <a:off x="4630522" y="2148840"/>
            <a:ext cx="1243584" cy="2331720"/>
          </a:xfrm>
          <a:prstGeom prst="roundRect">
            <a:avLst>
              <a:gd name="adj" fmla="val 5882"/>
            </a:avLst>
          </a:prstGeom>
          <a:solidFill>
            <a:srgbClr val="F2F3F5"/>
          </a:solidFill>
          <a:ln w="12700">
            <a:solidFill>
              <a:srgbClr val="F2F3F5"/>
            </a:solidFill>
            <a:prstDash val="solid"/>
          </a:ln>
        </p:spPr>
      </p:sp>
      <p:sp>
        <p:nvSpPr>
          <p:cNvPr id="25" name="Text 23"/>
          <p:cNvSpPr txBox="1"/>
          <p:nvPr/>
        </p:nvSpPr>
        <p:spPr>
          <a:xfrm>
            <a:off x="4740250" y="2286000"/>
            <a:ext cx="1024128"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Scheduling</a:t>
            </a:r>
            <a:endParaRPr lang="en-US" sz="1250" dirty="0"/>
          </a:p>
        </p:txBody>
      </p:sp>
      <p:sp>
        <p:nvSpPr>
          <p:cNvPr id="26" name="Text 24"/>
          <p:cNvSpPr txBox="1"/>
          <p:nvPr/>
        </p:nvSpPr>
        <p:spPr>
          <a:xfrm>
            <a:off x="4740250" y="2578608"/>
            <a:ext cx="1024128" cy="219456"/>
          </a:xfrm>
          <a:prstGeom prst="rect">
            <a:avLst/>
          </a:prstGeom>
          <a:noFill/>
          <a:ln/>
        </p:spPr>
        <p:txBody>
          <a:bodyPr wrap="square" lIns="0" tIns="0" rIns="0" bIns="0" rtlCol="0" anchor="ctr"/>
          <a:lstStyle/>
          <a:p>
            <a:pPr indent="0" marL="0">
              <a:buNone/>
            </a:pPr>
            <a:r>
              <a:rPr lang="en-US" sz="1050" b="1" dirty="0">
                <a:solidFill>
                  <a:srgbClr val="5B4FCF"/>
                </a:solidFill>
                <a:latin typeface="Calibri" pitchFamily="34" charset="0"/>
                <a:ea typeface="Calibri" pitchFamily="34" charset="-122"/>
                <a:cs typeface="Calibri" pitchFamily="34" charset="-120"/>
              </a:rPr>
              <a:t>Weeks 8–10</a:t>
            </a:r>
            <a:endParaRPr lang="en-US" sz="1050" dirty="0"/>
          </a:p>
        </p:txBody>
      </p:sp>
      <p:sp>
        <p:nvSpPr>
          <p:cNvPr id="27" name="Text 25"/>
          <p:cNvSpPr txBox="1"/>
          <p:nvPr/>
        </p:nvSpPr>
        <p:spPr>
          <a:xfrm>
            <a:off x="4740250" y="2926080"/>
            <a:ext cx="1024128" cy="14630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Assessment, shortlisting and scheduling agents with conflict checking.</a:t>
            </a:r>
            <a:endParaRPr lang="en-US" sz="1100" dirty="0"/>
          </a:p>
        </p:txBody>
      </p:sp>
      <p:sp>
        <p:nvSpPr>
          <p:cNvPr id="28" name="Shape 26"/>
          <p:cNvSpPr/>
          <p:nvPr/>
        </p:nvSpPr>
        <p:spPr>
          <a:xfrm>
            <a:off x="6393485" y="1380744"/>
            <a:ext cx="438912" cy="438912"/>
          </a:xfrm>
          <a:prstGeom prst="ellipse">
            <a:avLst/>
          </a:prstGeom>
          <a:solidFill>
            <a:srgbClr val="3A4756"/>
          </a:solidFill>
          <a:ln w="25400">
            <a:solidFill>
              <a:srgbClr val="FFFFFF"/>
            </a:solidFill>
            <a:prstDash val="solid"/>
          </a:ln>
        </p:spPr>
      </p:sp>
      <p:sp>
        <p:nvSpPr>
          <p:cNvPr id="29" name="Text 27"/>
          <p:cNvSpPr txBox="1"/>
          <p:nvPr/>
        </p:nvSpPr>
        <p:spPr>
          <a:xfrm>
            <a:off x="6393485" y="1380744"/>
            <a:ext cx="438912"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P5</a:t>
            </a:r>
            <a:endParaRPr lang="en-US" sz="1100" dirty="0"/>
          </a:p>
        </p:txBody>
      </p:sp>
      <p:sp>
        <p:nvSpPr>
          <p:cNvPr id="30" name="Shape 28"/>
          <p:cNvSpPr/>
          <p:nvPr/>
        </p:nvSpPr>
        <p:spPr>
          <a:xfrm>
            <a:off x="5991149" y="2148840"/>
            <a:ext cx="1243584" cy="2331720"/>
          </a:xfrm>
          <a:prstGeom prst="roundRect">
            <a:avLst>
              <a:gd name="adj" fmla="val 5882"/>
            </a:avLst>
          </a:prstGeom>
          <a:solidFill>
            <a:srgbClr val="F2F3F5"/>
          </a:solidFill>
          <a:ln w="12700">
            <a:solidFill>
              <a:srgbClr val="F2F3F5"/>
            </a:solidFill>
            <a:prstDash val="solid"/>
          </a:ln>
        </p:spPr>
      </p:sp>
      <p:sp>
        <p:nvSpPr>
          <p:cNvPr id="31" name="Text 29"/>
          <p:cNvSpPr txBox="1"/>
          <p:nvPr/>
        </p:nvSpPr>
        <p:spPr>
          <a:xfrm>
            <a:off x="6100877" y="2286000"/>
            <a:ext cx="1024128"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Integration</a:t>
            </a:r>
            <a:endParaRPr lang="en-US" sz="1250" dirty="0"/>
          </a:p>
        </p:txBody>
      </p:sp>
      <p:sp>
        <p:nvSpPr>
          <p:cNvPr id="32" name="Text 30"/>
          <p:cNvSpPr txBox="1"/>
          <p:nvPr/>
        </p:nvSpPr>
        <p:spPr>
          <a:xfrm>
            <a:off x="6100877" y="2578608"/>
            <a:ext cx="1024128" cy="219456"/>
          </a:xfrm>
          <a:prstGeom prst="rect">
            <a:avLst/>
          </a:prstGeom>
          <a:noFill/>
          <a:ln/>
        </p:spPr>
        <p:txBody>
          <a:bodyPr wrap="square" lIns="0" tIns="0" rIns="0" bIns="0" rtlCol="0" anchor="ctr"/>
          <a:lstStyle/>
          <a:p>
            <a:pPr indent="0" marL="0">
              <a:buNone/>
            </a:pPr>
            <a:r>
              <a:rPr lang="en-US" sz="1050" b="1" dirty="0">
                <a:solidFill>
                  <a:srgbClr val="5B4FCF"/>
                </a:solidFill>
                <a:latin typeface="Calibri" pitchFamily="34" charset="0"/>
                <a:ea typeface="Calibri" pitchFamily="34" charset="-122"/>
                <a:cs typeface="Calibri" pitchFamily="34" charset="-120"/>
              </a:rPr>
              <a:t>Weeks 11–13</a:t>
            </a:r>
            <a:endParaRPr lang="en-US" sz="1050" dirty="0"/>
          </a:p>
        </p:txBody>
      </p:sp>
      <p:sp>
        <p:nvSpPr>
          <p:cNvPr id="33" name="Text 31"/>
          <p:cNvSpPr txBox="1"/>
          <p:nvPr/>
        </p:nvSpPr>
        <p:spPr>
          <a:xfrm>
            <a:off x="6100877" y="2926080"/>
            <a:ext cx="1024128" cy="14630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Reflection loop, tool integration, dashboard and audit state.</a:t>
            </a:r>
            <a:endParaRPr lang="en-US" sz="1100" dirty="0"/>
          </a:p>
        </p:txBody>
      </p:sp>
      <p:sp>
        <p:nvSpPr>
          <p:cNvPr id="34" name="Shape 32"/>
          <p:cNvSpPr/>
          <p:nvPr/>
        </p:nvSpPr>
        <p:spPr>
          <a:xfrm>
            <a:off x="7754112" y="1380744"/>
            <a:ext cx="438912" cy="438912"/>
          </a:xfrm>
          <a:prstGeom prst="ellipse">
            <a:avLst/>
          </a:prstGeom>
          <a:solidFill>
            <a:srgbClr val="5B4FCF"/>
          </a:solidFill>
          <a:ln w="25400">
            <a:solidFill>
              <a:srgbClr val="FFFFFF"/>
            </a:solidFill>
            <a:prstDash val="solid"/>
          </a:ln>
        </p:spPr>
      </p:sp>
      <p:sp>
        <p:nvSpPr>
          <p:cNvPr id="35" name="Text 33"/>
          <p:cNvSpPr txBox="1"/>
          <p:nvPr/>
        </p:nvSpPr>
        <p:spPr>
          <a:xfrm>
            <a:off x="7754112" y="1380744"/>
            <a:ext cx="438912"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P6</a:t>
            </a:r>
            <a:endParaRPr lang="en-US" sz="1100" dirty="0"/>
          </a:p>
        </p:txBody>
      </p:sp>
      <p:sp>
        <p:nvSpPr>
          <p:cNvPr id="36" name="Shape 34"/>
          <p:cNvSpPr/>
          <p:nvPr/>
        </p:nvSpPr>
        <p:spPr>
          <a:xfrm>
            <a:off x="7351776" y="2148840"/>
            <a:ext cx="1243584" cy="2331720"/>
          </a:xfrm>
          <a:prstGeom prst="roundRect">
            <a:avLst>
              <a:gd name="adj" fmla="val 5882"/>
            </a:avLst>
          </a:prstGeom>
          <a:solidFill>
            <a:srgbClr val="F2F3F5"/>
          </a:solidFill>
          <a:ln w="12700">
            <a:solidFill>
              <a:srgbClr val="F2F3F5"/>
            </a:solidFill>
            <a:prstDash val="solid"/>
          </a:ln>
        </p:spPr>
      </p:sp>
      <p:sp>
        <p:nvSpPr>
          <p:cNvPr id="37" name="Text 35"/>
          <p:cNvSpPr txBox="1"/>
          <p:nvPr/>
        </p:nvSpPr>
        <p:spPr>
          <a:xfrm>
            <a:off x="7461504" y="2286000"/>
            <a:ext cx="1024128"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Evaluation</a:t>
            </a:r>
            <a:endParaRPr lang="en-US" sz="1250" dirty="0"/>
          </a:p>
        </p:txBody>
      </p:sp>
      <p:sp>
        <p:nvSpPr>
          <p:cNvPr id="38" name="Text 36"/>
          <p:cNvSpPr txBox="1"/>
          <p:nvPr/>
        </p:nvSpPr>
        <p:spPr>
          <a:xfrm>
            <a:off x="7461504" y="2578608"/>
            <a:ext cx="1024128" cy="219456"/>
          </a:xfrm>
          <a:prstGeom prst="rect">
            <a:avLst/>
          </a:prstGeom>
          <a:noFill/>
          <a:ln/>
        </p:spPr>
        <p:txBody>
          <a:bodyPr wrap="square" lIns="0" tIns="0" rIns="0" bIns="0" rtlCol="0" anchor="ctr"/>
          <a:lstStyle/>
          <a:p>
            <a:pPr indent="0" marL="0">
              <a:buNone/>
            </a:pPr>
            <a:r>
              <a:rPr lang="en-US" sz="1050" b="1" dirty="0">
                <a:solidFill>
                  <a:srgbClr val="5B4FCF"/>
                </a:solidFill>
                <a:latin typeface="Calibri" pitchFamily="34" charset="0"/>
                <a:ea typeface="Calibri" pitchFamily="34" charset="-122"/>
                <a:cs typeface="Calibri" pitchFamily="34" charset="-120"/>
              </a:rPr>
              <a:t>Weeks 14–16</a:t>
            </a:r>
            <a:endParaRPr lang="en-US" sz="1050" dirty="0"/>
          </a:p>
        </p:txBody>
      </p:sp>
      <p:sp>
        <p:nvSpPr>
          <p:cNvPr id="39" name="Text 37"/>
          <p:cNvSpPr txBox="1"/>
          <p:nvPr/>
        </p:nvSpPr>
        <p:spPr>
          <a:xfrm>
            <a:off x="7461504" y="2926080"/>
            <a:ext cx="1024128" cy="14630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Testing, evaluation, documentation and final demonstration.</a:t>
            </a:r>
            <a:endParaRPr lang="en-US" sz="1100" dirty="0"/>
          </a:p>
        </p:txBody>
      </p:sp>
      <p:sp>
        <p:nvSpPr>
          <p:cNvPr id="40" name="Text 38"/>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Conclusion &amp; Future Work</a:t>
            </a:r>
            <a:endParaRPr lang="en-US" sz="2600" dirty="0"/>
          </a:p>
        </p:txBody>
      </p:sp>
      <p:sp>
        <p:nvSpPr>
          <p:cNvPr id="3" name="Shape 1"/>
          <p:cNvSpPr/>
          <p:nvPr/>
        </p:nvSpPr>
        <p:spPr>
          <a:xfrm>
            <a:off x="548640" y="1143000"/>
            <a:ext cx="3931920" cy="3520440"/>
          </a:xfrm>
          <a:prstGeom prst="roundRect">
            <a:avLst>
              <a:gd name="adj" fmla="val 2078"/>
            </a:avLst>
          </a:prstGeom>
          <a:solidFill>
            <a:srgbClr val="3A4756"/>
          </a:solidFill>
          <a:ln w="12700">
            <a:solidFill>
              <a:srgbClr val="3A4756"/>
            </a:solidFill>
            <a:prstDash val="solid"/>
          </a:ln>
        </p:spPr>
      </p:sp>
      <p:sp>
        <p:nvSpPr>
          <p:cNvPr id="4" name="Text 2"/>
          <p:cNvSpPr txBox="1"/>
          <p:nvPr/>
        </p:nvSpPr>
        <p:spPr>
          <a:xfrm>
            <a:off x="777240" y="1298448"/>
            <a:ext cx="2743200" cy="228600"/>
          </a:xfrm>
          <a:prstGeom prst="rect">
            <a:avLst/>
          </a:prstGeom>
          <a:noFill/>
          <a:ln/>
        </p:spPr>
        <p:txBody>
          <a:bodyPr wrap="square" lIns="0" tIns="0" rIns="0" bIns="0" rtlCol="0" anchor="ctr"/>
          <a:lstStyle/>
          <a:p>
            <a:pPr indent="0" marL="0">
              <a:buNone/>
            </a:pPr>
            <a:r>
              <a:rPr lang="en-US" sz="950" b="1" spc="200" kern="0" dirty="0">
                <a:solidFill>
                  <a:srgbClr val="C9C4F7"/>
                </a:solidFill>
                <a:latin typeface="Calibri" pitchFamily="34" charset="0"/>
                <a:ea typeface="Calibri" pitchFamily="34" charset="-122"/>
                <a:cs typeface="Calibri" pitchFamily="34" charset="-120"/>
              </a:rPr>
              <a:t>CONCLUSION</a:t>
            </a:r>
            <a:endParaRPr lang="en-US" sz="950" dirty="0"/>
          </a:p>
        </p:txBody>
      </p:sp>
      <p:sp>
        <p:nvSpPr>
          <p:cNvPr id="5" name="Text 3"/>
          <p:cNvSpPr txBox="1"/>
          <p:nvPr/>
        </p:nvSpPr>
        <p:spPr>
          <a:xfrm>
            <a:off x="777240" y="1572768"/>
            <a:ext cx="3474720" cy="7772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From company JD to approved interview schedule — in one stateful workflow.</a:t>
            </a:r>
            <a:endParaRPr lang="en-US" sz="1700" dirty="0"/>
          </a:p>
        </p:txBody>
      </p:sp>
      <p:sp>
        <p:nvSpPr>
          <p:cNvPr id="6" name="Text 4"/>
          <p:cNvSpPr txBox="1"/>
          <p:nvPr/>
        </p:nvSpPr>
        <p:spPr>
          <a:xfrm>
            <a:off x="777240" y="2423160"/>
            <a:ext cx="3474720" cy="1280160"/>
          </a:xfrm>
          <a:prstGeom prst="rect">
            <a:avLst/>
          </a:prstGeom>
          <a:noFill/>
          <a:ln/>
        </p:spPr>
        <p:txBody>
          <a:bodyPr wrap="square" lIns="0" tIns="0" rIns="0" bIns="0" rtlCol="0" anchor="t"/>
          <a:lstStyle/>
          <a:p>
            <a:pPr indent="0" marL="0">
              <a:buNone/>
            </a:pPr>
            <a:r>
              <a:rPr lang="en-US" sz="1200" dirty="0">
                <a:solidFill>
                  <a:srgbClr val="D5DAE1"/>
                </a:solidFill>
                <a:latin typeface="Calibri" pitchFamily="34" charset="0"/>
                <a:ea typeface="Calibri" pitchFamily="34" charset="-122"/>
                <a:cs typeface="Calibri" pitchFamily="34" charset="-120"/>
              </a:rPr>
              <a:t>Placify shows that Agentic AI can coordinate a real institutional process: reasoning, retrieval, memory, tool use and reflection work together, while the placement cell stays the human authority.</a:t>
            </a:r>
            <a:endParaRPr lang="en-US" sz="1200" dirty="0"/>
          </a:p>
        </p:txBody>
      </p:sp>
      <p:sp>
        <p:nvSpPr>
          <p:cNvPr id="7" name="Text 5"/>
          <p:cNvSpPr txBox="1"/>
          <p:nvPr/>
        </p:nvSpPr>
        <p:spPr>
          <a:xfrm>
            <a:off x="777240" y="3840480"/>
            <a:ext cx="3474720" cy="731520"/>
          </a:xfrm>
          <a:prstGeom prst="rect">
            <a:avLst/>
          </a:prstGeom>
          <a:noFill/>
          <a:ln/>
        </p:spPr>
        <p:txBody>
          <a:bodyPr wrap="square" lIns="0" tIns="0" rIns="0" bIns="0" rtlCol="0" anchor="t"/>
          <a:lstStyle/>
          <a:p>
            <a:pPr indent="0" marL="0">
              <a:buNone/>
            </a:pPr>
            <a:r>
              <a:rPr lang="en-US" sz="1050" i="1" dirty="0">
                <a:solidFill>
                  <a:srgbClr val="B6BEC9"/>
                </a:solidFill>
                <a:latin typeface="Calibri" pitchFamily="34" charset="0"/>
                <a:ea typeface="Calibri" pitchFamily="34" charset="-122"/>
                <a:cs typeface="Calibri" pitchFamily="34" charset="-120"/>
              </a:rPr>
              <a:t>Prototype boundary: controlled data and simulated services. Production use needs authorized APIs, privacy controls and validation.</a:t>
            </a:r>
            <a:endParaRPr lang="en-US" sz="1050" dirty="0"/>
          </a:p>
        </p:txBody>
      </p:sp>
      <p:sp>
        <p:nvSpPr>
          <p:cNvPr id="8" name="Shape 6"/>
          <p:cNvSpPr/>
          <p:nvPr/>
        </p:nvSpPr>
        <p:spPr>
          <a:xfrm>
            <a:off x="4754880" y="1143000"/>
            <a:ext cx="3840480" cy="2148840"/>
          </a:xfrm>
          <a:prstGeom prst="roundRect">
            <a:avLst>
              <a:gd name="adj" fmla="val 3404"/>
            </a:avLst>
          </a:prstGeom>
          <a:solidFill>
            <a:srgbClr val="F2F3F5"/>
          </a:solidFill>
          <a:ln w="12700">
            <a:solidFill>
              <a:srgbClr val="F2F3F5"/>
            </a:solidFill>
            <a:prstDash val="solid"/>
          </a:ln>
        </p:spPr>
      </p:sp>
      <p:sp>
        <p:nvSpPr>
          <p:cNvPr id="9" name="Text 7"/>
          <p:cNvSpPr txBox="1"/>
          <p:nvPr/>
        </p:nvSpPr>
        <p:spPr>
          <a:xfrm>
            <a:off x="4937760" y="1280160"/>
            <a:ext cx="2743200" cy="228600"/>
          </a:xfrm>
          <a:prstGeom prst="rect">
            <a:avLst/>
          </a:prstGeom>
          <a:noFill/>
          <a:ln/>
        </p:spPr>
        <p:txBody>
          <a:bodyPr wrap="square" lIns="0" tIns="0" rIns="0" bIns="0" rtlCol="0" anchor="ctr"/>
          <a:lstStyle/>
          <a:p>
            <a:pPr indent="0" marL="0">
              <a:buNone/>
            </a:pPr>
            <a:r>
              <a:rPr lang="en-US" sz="950" b="1" spc="200" kern="0" dirty="0">
                <a:solidFill>
                  <a:srgbClr val="6B7280"/>
                </a:solidFill>
                <a:latin typeface="Calibri" pitchFamily="34" charset="0"/>
                <a:ea typeface="Calibri" pitchFamily="34" charset="-122"/>
                <a:cs typeface="Calibri" pitchFamily="34" charset="-120"/>
              </a:rPr>
              <a:t>FUTURE WORK</a:t>
            </a:r>
            <a:endParaRPr lang="en-US" sz="950" dirty="0"/>
          </a:p>
        </p:txBody>
      </p:sp>
      <p:sp>
        <p:nvSpPr>
          <p:cNvPr id="10" name="Text 8"/>
          <p:cNvSpPr txBox="1"/>
          <p:nvPr/>
        </p:nvSpPr>
        <p:spPr>
          <a:xfrm>
            <a:off x="4937760" y="1554480"/>
            <a:ext cx="3520440" cy="16459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ERP and academic-result integration</a:t>
            </a:r>
            <a:endParaRPr lang="en-US" sz="1150" dirty="0"/>
          </a:p>
          <a:p>
            <a:pPr marL="152400" indent="-1524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Stronger identity and role-based access</a:t>
            </a:r>
            <a:endParaRPr lang="en-US" sz="1150" dirty="0"/>
          </a:p>
          <a:p>
            <a:pPr marL="152400" indent="-1524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Multiple simultaneous drives with shared constraints</a:t>
            </a:r>
            <a:endParaRPr lang="en-US" sz="1150" dirty="0"/>
          </a:p>
          <a:p>
            <a:pPr marL="152400" indent="-1524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Advanced constraint optimization for scheduling</a:t>
            </a:r>
            <a:endParaRPr lang="en-US" sz="1150" dirty="0"/>
          </a:p>
          <a:p>
            <a:pPr marL="152400" indent="-1524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Recruiter feedback and placement analytics</a:t>
            </a:r>
            <a:endParaRPr lang="en-US" sz="1150" dirty="0"/>
          </a:p>
          <a:p>
            <a:pPr marL="152400" indent="-1524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Versioned policies; preference-aware discovery</a:t>
            </a:r>
            <a:endParaRPr lang="en-US" sz="1150" dirty="0"/>
          </a:p>
        </p:txBody>
      </p:sp>
      <p:sp>
        <p:nvSpPr>
          <p:cNvPr id="11" name="Shape 9"/>
          <p:cNvSpPr/>
          <p:nvPr/>
        </p:nvSpPr>
        <p:spPr>
          <a:xfrm>
            <a:off x="4754880" y="3429000"/>
            <a:ext cx="3840480" cy="1234440"/>
          </a:xfrm>
          <a:prstGeom prst="roundRect">
            <a:avLst>
              <a:gd name="adj" fmla="val 5926"/>
            </a:avLst>
          </a:prstGeom>
          <a:solidFill>
            <a:srgbClr val="F2F3F5"/>
          </a:solidFill>
          <a:ln w="12700">
            <a:solidFill>
              <a:srgbClr val="F2F3F5"/>
            </a:solidFill>
            <a:prstDash val="solid"/>
          </a:ln>
        </p:spPr>
      </p:sp>
      <p:sp>
        <p:nvSpPr>
          <p:cNvPr id="12" name="Text 10"/>
          <p:cNvSpPr txBox="1"/>
          <p:nvPr/>
        </p:nvSpPr>
        <p:spPr>
          <a:xfrm>
            <a:off x="4937760" y="3547872"/>
            <a:ext cx="3200400" cy="228600"/>
          </a:xfrm>
          <a:prstGeom prst="rect">
            <a:avLst/>
          </a:prstGeom>
          <a:noFill/>
          <a:ln/>
        </p:spPr>
        <p:txBody>
          <a:bodyPr wrap="square" lIns="0" tIns="0" rIns="0" bIns="0" rtlCol="0" anchor="ctr"/>
          <a:lstStyle/>
          <a:p>
            <a:pPr indent="0" marL="0">
              <a:buNone/>
            </a:pPr>
            <a:r>
              <a:rPr lang="en-US" sz="950" b="1" spc="200" kern="0" dirty="0">
                <a:solidFill>
                  <a:srgbClr val="6B7280"/>
                </a:solidFill>
                <a:latin typeface="Calibri" pitchFamily="34" charset="0"/>
                <a:ea typeface="Calibri" pitchFamily="34" charset="-122"/>
                <a:cs typeface="Calibri" pitchFamily="34" charset="-120"/>
              </a:rPr>
              <a:t>EVALUATION PLAN (KPIs)</a:t>
            </a:r>
            <a:endParaRPr lang="en-US" sz="950" dirty="0"/>
          </a:p>
        </p:txBody>
      </p:sp>
      <p:sp>
        <p:nvSpPr>
          <p:cNvPr id="13" name="Text 11"/>
          <p:cNvSpPr txBox="1"/>
          <p:nvPr/>
        </p:nvSpPr>
        <p:spPr>
          <a:xfrm>
            <a:off x="4937760" y="3794760"/>
            <a:ext cx="3520440" cy="82296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Eligibility accuracy · Verification consistency · Application tracking · Shortlist consistency · Schedule conflict rate · RAG relevance · Workflow completion — measured on controlled scenarios.</a:t>
            </a:r>
            <a:endParaRPr lang="en-US" sz="1050" dirty="0"/>
          </a:p>
        </p:txBody>
      </p:sp>
      <p:sp>
        <p:nvSpPr>
          <p:cNvPr id="14" name="Text 12"/>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22C38"/>
        </a:solidFill>
      </p:bgPr>
    </p:bg>
    <p:spTree>
      <p:nvGrpSpPr>
        <p:cNvPr id="1" name=""/>
        <p:cNvGrpSpPr/>
        <p:nvPr/>
      </p:nvGrpSpPr>
      <p:grpSpPr>
        <a:xfrm>
          <a:off x="0" y="0"/>
          <a:ext cx="0" cy="0"/>
          <a:chOff x="0" y="0"/>
          <a:chExt cx="0" cy="0"/>
        </a:xfrm>
      </p:grpSpPr>
      <p:sp>
        <p:nvSpPr>
          <p:cNvPr id="2" name="Shape 0"/>
          <p:cNvSpPr/>
          <p:nvPr/>
        </p:nvSpPr>
        <p:spPr>
          <a:xfrm>
            <a:off x="-731520" y="3017520"/>
            <a:ext cx="2560320" cy="2560320"/>
          </a:xfrm>
          <a:prstGeom prst="ellipse">
            <a:avLst/>
          </a:prstGeom>
          <a:solidFill>
            <a:srgbClr val="2A3542"/>
          </a:solidFill>
          <a:ln w="12700">
            <a:solidFill>
              <a:srgbClr val="2A3542"/>
            </a:solidFill>
            <a:prstDash val="solid"/>
          </a:ln>
        </p:spPr>
      </p:sp>
      <p:sp>
        <p:nvSpPr>
          <p:cNvPr id="3" name="Shape 1"/>
          <p:cNvSpPr/>
          <p:nvPr/>
        </p:nvSpPr>
        <p:spPr>
          <a:xfrm>
            <a:off x="7498080" y="-914400"/>
            <a:ext cx="2743200" cy="2743200"/>
          </a:xfrm>
          <a:prstGeom prst="ellipse">
            <a:avLst/>
          </a:prstGeom>
          <a:solidFill>
            <a:srgbClr val="2A3542"/>
          </a:solidFill>
          <a:ln w="12700">
            <a:solidFill>
              <a:srgbClr val="2A3542"/>
            </a:solidFill>
            <a:prstDash val="solid"/>
          </a:ln>
        </p:spPr>
      </p:sp>
      <p:sp>
        <p:nvSpPr>
          <p:cNvPr id="4" name="Text 2"/>
          <p:cNvSpPr txBox="1"/>
          <p:nvPr/>
        </p:nvSpPr>
        <p:spPr>
          <a:xfrm>
            <a:off x="548640" y="1737360"/>
            <a:ext cx="804672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txBox="1"/>
          <p:nvPr/>
        </p:nvSpPr>
        <p:spPr>
          <a:xfrm>
            <a:off x="548640" y="2651760"/>
            <a:ext cx="8046720" cy="365760"/>
          </a:xfrm>
          <a:prstGeom prst="rect">
            <a:avLst/>
          </a:prstGeom>
          <a:noFill/>
          <a:ln/>
        </p:spPr>
        <p:txBody>
          <a:bodyPr wrap="square" lIns="0" tIns="0" rIns="0" bIns="0" rtlCol="0" anchor="ctr"/>
          <a:lstStyle/>
          <a:p>
            <a:pPr algn="ctr" indent="0" marL="0">
              <a:buNone/>
            </a:pPr>
            <a:r>
              <a:rPr lang="en-US" sz="1400" dirty="0">
                <a:solidFill>
                  <a:srgbClr val="B6BEC9"/>
                </a:solidFill>
                <a:latin typeface="Calibri" pitchFamily="34" charset="0"/>
                <a:ea typeface="Calibri" pitchFamily="34" charset="-122"/>
                <a:cs typeface="Calibri" pitchFamily="34" charset="-120"/>
              </a:rPr>
              <a:t>Placify · Autonomous AI Placement Orchestration</a:t>
            </a:r>
            <a:endParaRPr lang="en-US" sz="1400" dirty="0"/>
          </a:p>
        </p:txBody>
      </p:sp>
      <p:sp>
        <p:nvSpPr>
          <p:cNvPr id="6" name="Text 4"/>
          <p:cNvSpPr txBox="1"/>
          <p:nvPr/>
        </p:nvSpPr>
        <p:spPr>
          <a:xfrm>
            <a:off x="548640" y="3200400"/>
            <a:ext cx="8046720" cy="274320"/>
          </a:xfrm>
          <a:prstGeom prst="rect">
            <a:avLst/>
          </a:prstGeom>
          <a:noFill/>
          <a:ln/>
        </p:spPr>
        <p:txBody>
          <a:bodyPr wrap="square" lIns="0" tIns="0" rIns="0" bIns="0" rtlCol="0" anchor="ctr"/>
          <a:lstStyle/>
          <a:p>
            <a:pPr algn="ctr" indent="0" marL="0">
              <a:buNone/>
            </a:pPr>
            <a:r>
              <a:rPr lang="en-US" sz="1100" dirty="0">
                <a:solidFill>
                  <a:srgbClr val="9AA5B1"/>
                </a:solidFill>
                <a:latin typeface="Calibri" pitchFamily="34" charset="0"/>
                <a:ea typeface="Calibri" pitchFamily="34" charset="-122"/>
                <a:cs typeface="Calibri" pitchFamily="34" charset="-120"/>
              </a:rPr>
              <a:t>Shri Dharshini M  ·  Sharan M  ·  Sooryanath SD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Placify – Autonomous AI Placement Orchestration</dc:title>
  <dc:subject>PptxGenJS Presentation</dc:subject>
  <dc:creator>Placify Team</dc:creator>
  <cp:lastModifiedBy>Placify Team</cp:lastModifiedBy>
  <cp:revision>1</cp:revision>
  <dcterms:created xsi:type="dcterms:W3CDTF">2026-09-29T08:17:30Z</dcterms:created>
  <dcterms:modified xsi:type="dcterms:W3CDTF">2026-09-29T08:17:30Z</dcterms:modified>
</cp:coreProperties>
</file>